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1517"/>
                </a:solidFill>
                <a:latin typeface="Calibri"/>
              </a:defRPr>
            </a:pPr>
            <a:r>
              <a:rPr sz="1300" b="0" i="0" u="none" strike="noStrike">
                <a:solidFill>
                  <a:srgbClr val="111517"/>
                </a:solidFill>
                <a:latin typeface="Calibri"/>
              </a:rPr>
              <a:t>False-positive rate by design, no effect injected (%)</a:t>
            </a:r>
          </a:p>
        </c:rich>
      </c:tx>
      <c:layout/>
      <c:overlay val="0"/>
    </c:title>
    <c:autoTitleDeleted val="0"/>
    <c:plotArea>
      <c:layout/>
      <c:barChart>
        <c:barDir val="col"/>
        <c:grouping val="clustered"/>
        <c:varyColors val="0"/>
        <c:ser>
          <c:idx val="0"/>
          <c:order val="0"/>
          <c:tx>
            <c:strRef>
              <c:f>Sheet1!$B$1</c:f>
              <c:strCache>
                <c:ptCount val="1"/>
                <c:pt idx="0">
                  <c:v>No drift</c:v>
                </c:pt>
              </c:strCache>
            </c:strRef>
          </c:tx>
          <c:spPr>
            <a:solidFill>
              <a:srgbClr val="BFD3EA"/>
            </a:solidFill>
            <a:ln w="9525"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D0</c:v>
                  </c:pt>
                  <c:pt idx="1">
                    <c:v>D1</c:v>
                  </c:pt>
                  <c:pt idx="2">
                    <c:v>D2</c:v>
                  </c:pt>
                  <c:pt idx="3">
                    <c:v>D3</c:v>
                  </c:pt>
                  <c:pt idx="4">
                    <c:v>D4</c:v>
                  </c:pt>
                  <c:pt idx="5">
                    <c:v>D5</c:v>
                  </c:pt>
                  <c:pt idx="6">
                    <c:v>D6</c:v>
                  </c:pt>
                </c:lvl>
              </c:multiLvlStrCache>
            </c:multiLvlStrRef>
          </c:cat>
          <c:val>
            <c:numRef>
              <c:f>Sheet1!$B$2:$B$8</c:f>
              <c:numCache>
                <c:formatCode>General</c:formatCode>
                <c:ptCount val="7"/>
                <c:pt idx="0">
                  <c:v>0</c:v>
                </c:pt>
                <c:pt idx="1">
                  <c:v>0</c:v>
                </c:pt>
                <c:pt idx="2">
                  <c:v>0</c:v>
                </c:pt>
                <c:pt idx="3">
                  <c:v>0</c:v>
                </c:pt>
                <c:pt idx="4">
                  <c:v>0</c:v>
                </c:pt>
                <c:pt idx="5">
                  <c:v>0</c:v>
                </c:pt>
                <c:pt idx="6">
                  <c:v>0</c:v>
                </c:pt>
              </c:numCache>
            </c:numRef>
          </c:val>
        </c:ser>
        <c:ser>
          <c:idx val="1"/>
          <c:order val="1"/>
          <c:tx>
            <c:strRef>
              <c:f>Sheet1!$C$1</c:f>
              <c:strCache>
                <c:ptCount val="1"/>
                <c:pt idx="0">
                  <c:v>Slow drift +2%/sweep</c:v>
                </c:pt>
              </c:strCache>
            </c:strRef>
          </c:tx>
          <c:spPr>
            <a:solidFill>
              <a:srgbClr val="9CC0E4"/>
            </a:solidFill>
            <a:ln w="9525"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D0</c:v>
                  </c:pt>
                  <c:pt idx="1">
                    <c:v>D1</c:v>
                  </c:pt>
                  <c:pt idx="2">
                    <c:v>D2</c:v>
                  </c:pt>
                  <c:pt idx="3">
                    <c:v>D3</c:v>
                  </c:pt>
                  <c:pt idx="4">
                    <c:v>D4</c:v>
                  </c:pt>
                  <c:pt idx="5">
                    <c:v>D5</c:v>
                  </c:pt>
                  <c:pt idx="6">
                    <c:v>D6</c:v>
                  </c:pt>
                </c:lvl>
              </c:multiLvlStrCache>
            </c:multiLvlStrRef>
          </c:cat>
          <c:val>
            <c:numRef>
              <c:f>Sheet1!$C$2:$C$8</c:f>
              <c:numCache>
                <c:formatCode>General</c:formatCode>
                <c:ptCount val="7"/>
                <c:pt idx="0">
                  <c:v>4.5</c:v>
                </c:pt>
                <c:pt idx="1">
                  <c:v>0</c:v>
                </c:pt>
                <c:pt idx="2">
                  <c:v>0</c:v>
                </c:pt>
                <c:pt idx="3">
                  <c:v>0</c:v>
                </c:pt>
                <c:pt idx="4">
                  <c:v>0</c:v>
                </c:pt>
                <c:pt idx="5">
                  <c:v>0</c:v>
                </c:pt>
                <c:pt idx="6">
                  <c:v>0</c:v>
                </c:pt>
              </c:numCache>
            </c:numRef>
          </c:val>
        </c:ser>
        <c:ser>
          <c:idx val="2"/>
          <c:order val="2"/>
          <c:tx>
            <c:strRef>
              <c:f>Sheet1!$D$1</c:f>
              <c:strCache>
                <c:ptCount val="1"/>
                <c:pt idx="0">
                  <c:v>Fast drift +5%/sweep</c:v>
                </c:pt>
              </c:strCache>
            </c:strRef>
          </c:tx>
          <c:spPr>
            <a:solidFill>
              <a:srgbClr val="EB6834"/>
            </a:solidFill>
            <a:ln w="9525"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D0</c:v>
                  </c:pt>
                  <c:pt idx="1">
                    <c:v>D1</c:v>
                  </c:pt>
                  <c:pt idx="2">
                    <c:v>D2</c:v>
                  </c:pt>
                  <c:pt idx="3">
                    <c:v>D3</c:v>
                  </c:pt>
                  <c:pt idx="4">
                    <c:v>D4</c:v>
                  </c:pt>
                  <c:pt idx="5">
                    <c:v>D5</c:v>
                  </c:pt>
                  <c:pt idx="6">
                    <c:v>D6</c:v>
                  </c:pt>
                </c:lvl>
              </c:multiLvlStrCache>
            </c:multiLvlStrRef>
          </c:cat>
          <c:val>
            <c:numRef>
              <c:f>Sheet1!$D$2:$D$8</c:f>
              <c:numCache>
                <c:formatCode>General</c:formatCode>
                <c:ptCount val="7"/>
                <c:pt idx="0">
                  <c:v>38.9</c:v>
                </c:pt>
                <c:pt idx="1">
                  <c:v>0</c:v>
                </c:pt>
                <c:pt idx="2">
                  <c:v>0</c:v>
                </c:pt>
                <c:pt idx="3">
                  <c:v>0</c:v>
                </c:pt>
                <c:pt idx="4">
                  <c:v>0</c:v>
                </c:pt>
                <c:pt idx="5">
                  <c:v>0</c:v>
                </c:pt>
                <c:pt idx="6">
                  <c:v>0</c:v>
                </c:pt>
              </c:numCache>
            </c:numRef>
          </c:val>
        </c:ser>
        <c:ser>
          <c:idx val="3"/>
          <c:order val="3"/>
          <c:tx>
            <c:strRef>
              <c:f>Sheet1!$E$1</c:f>
              <c:strCache>
                <c:ptCount val="1"/>
                <c:pt idx="0">
                  <c:v>Step +15% mid-sweep</c:v>
                </c:pt>
              </c:strCache>
            </c:strRef>
          </c:tx>
          <c:spPr>
            <a:solidFill>
              <a:srgbClr val="C4472A"/>
            </a:solidFill>
            <a:ln w="9525"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D0</c:v>
                  </c:pt>
                  <c:pt idx="1">
                    <c:v>D1</c:v>
                  </c:pt>
                  <c:pt idx="2">
                    <c:v>D2</c:v>
                  </c:pt>
                  <c:pt idx="3">
                    <c:v>D3</c:v>
                  </c:pt>
                  <c:pt idx="4">
                    <c:v>D4</c:v>
                  </c:pt>
                  <c:pt idx="5">
                    <c:v>D5</c:v>
                  </c:pt>
                  <c:pt idx="6">
                    <c:v>D6</c:v>
                  </c:pt>
                </c:lvl>
              </c:multiLvlStrCache>
            </c:multiLvlStrRef>
          </c:cat>
          <c:val>
            <c:numRef>
              <c:f>Sheet1!$E$2:$E$8</c:f>
              <c:numCache>
                <c:formatCode>General</c:formatCode>
                <c:ptCount val="7"/>
                <c:pt idx="0">
                  <c:v>85.5</c:v>
                </c:pt>
                <c:pt idx="1">
                  <c:v>68.4</c:v>
                </c:pt>
                <c:pt idx="2">
                  <c:v>99.2</c:v>
                </c:pt>
                <c:pt idx="3">
                  <c:v>99.2</c:v>
                </c:pt>
                <c:pt idx="4">
                  <c:v>99.6</c:v>
                </c:pt>
                <c:pt idx="5">
                  <c:v>0</c:v>
                </c:pt>
                <c:pt idx="6">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Calibri"/>
              </a:defRPr>
            </a:pPr>
            <a:endParaRPr lang="en-US"/>
          </a:p>
        </c:txPr>
        <c:crossAx val="2094734552"/>
        <c:crosses val="autoZero"/>
        <c:auto val="1"/>
        <c:lblAlgn val="ctr"/>
        <c:noMultiLvlLbl val="1"/>
      </c:catAx>
      <c:valAx>
        <c:axId val="2094734552"/>
        <c:scaling>
          <c:orientation val="minMax"/>
          <c:max val="100"/>
        </c:scaling>
        <c:delete val="0"/>
        <c:axPos val="l"/>
        <c:majorGridlines>
          <c:spPr>
            <a:ln w="9525" cap="flat">
              <a:solidFill>
                <a:srgbClr val="DEDD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985"/>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52514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26"/>
        </a:solidFill>
      </p:bgPr>
    </p:bg>
    <p:spTree>
      <p:nvGrpSpPr>
        <p:cNvPr id="1" name=""/>
        <p:cNvGrpSpPr/>
        <p:nvPr/>
      </p:nvGrpSpPr>
      <p:grpSpPr>
        <a:xfrm>
          <a:off x="0" y="0"/>
          <a:ext cx="0" cy="0"/>
          <a:chOff x="0" y="0"/>
          <a:chExt cx="0" cy="0"/>
        </a:xfrm>
      </p:grpSpPr>
      <p:sp>
        <p:nvSpPr>
          <p:cNvPr id="2" name="Text 0"/>
          <p:cNvSpPr txBox="1"/>
          <p:nvPr/>
        </p:nvSpPr>
        <p:spPr>
          <a:xfrm>
            <a:off x="566928" y="1325880"/>
            <a:ext cx="7406640" cy="1920240"/>
          </a:xfrm>
          <a:prstGeom prst="rect">
            <a:avLst/>
          </a:prstGeom>
          <a:noFill/>
          <a:ln/>
        </p:spPr>
        <p:txBody>
          <a:bodyPr wrap="square" lIns="0" tIns="0" rIns="0" bIns="0" rtlCol="0" anchor="ctr"/>
          <a:lstStyle/>
          <a:p>
            <a:pPr indent="0" marL="0">
              <a:lnSpc>
                <a:spcPct val="95000"/>
              </a:lnSpc>
              <a:buNone/>
            </a:pPr>
            <a:r>
              <a:rPr lang="en-US" sz="4600" b="1" dirty="0">
                <a:solidFill>
                  <a:srgbClr val="FFFFFF"/>
                </a:solidFill>
                <a:latin typeface="Cambria" pitchFamily="34" charset="0"/>
                <a:ea typeface="Cambria" pitchFamily="34" charset="-122"/>
                <a:cs typeface="Cambria" pitchFamily="34" charset="-120"/>
              </a:rPr>
              <a:t>Detector Design</a:t>
            </a:r>
            <a:endParaRPr lang="en-US" sz="4600" dirty="0"/>
          </a:p>
          <a:p>
            <a:pPr indent="0" marL="0">
              <a:lnSpc>
                <a:spcPct val="95000"/>
              </a:lnSpc>
              <a:buNone/>
            </a:pPr>
            <a:r>
              <a:rPr lang="en-US" sz="4600" b="1" dirty="0">
                <a:solidFill>
                  <a:srgbClr val="FFFFFF"/>
                </a:solidFill>
                <a:latin typeface="Cambria" pitchFamily="34" charset="0"/>
                <a:ea typeface="Cambria" pitchFamily="34" charset="-122"/>
                <a:cs typeface="Cambria" pitchFamily="34" charset="-120"/>
              </a:rPr>
              <a:t>Determines Findings</a:t>
            </a:r>
            <a:endParaRPr lang="en-US" sz="4600" dirty="0"/>
          </a:p>
        </p:txBody>
      </p:sp>
      <p:sp>
        <p:nvSpPr>
          <p:cNvPr id="3" name="Text 1"/>
          <p:cNvSpPr txBox="1"/>
          <p:nvPr/>
        </p:nvSpPr>
        <p:spPr>
          <a:xfrm>
            <a:off x="566928" y="3310128"/>
            <a:ext cx="7406640" cy="384048"/>
          </a:xfrm>
          <a:prstGeom prst="rect">
            <a:avLst/>
          </a:prstGeom>
          <a:noFill/>
          <a:ln/>
        </p:spPr>
        <p:txBody>
          <a:bodyPr wrap="square" lIns="0" tIns="0" rIns="0" bIns="0" rtlCol="0" anchor="ctr"/>
          <a:lstStyle/>
          <a:p>
            <a:pPr indent="0" marL="0">
              <a:buNone/>
            </a:pPr>
            <a:r>
              <a:rPr lang="en-US" sz="1700" dirty="0">
                <a:solidFill>
                  <a:srgbClr val="2A78D6"/>
                </a:solidFill>
                <a:latin typeface="Calibri" pitchFamily="34" charset="0"/>
                <a:ea typeface="Calibri" pitchFamily="34" charset="-122"/>
                <a:cs typeface="Calibri" pitchFamily="34" charset="-120"/>
              </a:rPr>
              <a:t>A simulation study of price discrimination measurement</a:t>
            </a:r>
            <a:endParaRPr lang="en-US" sz="1700" dirty="0"/>
          </a:p>
        </p:txBody>
      </p:sp>
      <p:sp>
        <p:nvSpPr>
          <p:cNvPr id="4" name="Text 2"/>
          <p:cNvSpPr txBox="1"/>
          <p:nvPr/>
        </p:nvSpPr>
        <p:spPr>
          <a:xfrm>
            <a:off x="566928" y="3950208"/>
            <a:ext cx="6766560" cy="841248"/>
          </a:xfrm>
          <a:prstGeom prst="rect">
            <a:avLst/>
          </a:prstGeom>
          <a:noFill/>
          <a:ln/>
        </p:spPr>
        <p:txBody>
          <a:bodyPr wrap="square" lIns="0" tIns="0" rIns="0" bIns="0" rtlCol="0" anchor="t"/>
          <a:lstStyle/>
          <a:p>
            <a:pPr indent="0" marL="0">
              <a:lnSpc>
                <a:spcPct val="110000"/>
              </a:lnSpc>
              <a:buNone/>
            </a:pPr>
            <a:r>
              <a:rPr lang="en-US" sz="1600" i="1" dirty="0">
                <a:solidFill>
                  <a:srgbClr val="C9CDCF"/>
                </a:solidFill>
                <a:latin typeface="Cambria" pitchFamily="34" charset="0"/>
                <a:ea typeface="Cambria" pitchFamily="34" charset="-122"/>
                <a:cs typeface="Cambria" pitchFamily="34" charset="-120"/>
              </a:rPr>
              <a:t>A detector built to detect will detect.</a:t>
            </a:r>
            <a:endParaRPr lang="en-US" sz="1600" dirty="0"/>
          </a:p>
          <a:p>
            <a:pPr indent="0" marL="0">
              <a:lnSpc>
                <a:spcPct val="110000"/>
              </a:lnSpc>
              <a:buNone/>
            </a:pPr>
            <a:r>
              <a:rPr lang="en-US" sz="1600" i="1" dirty="0">
                <a:solidFill>
                  <a:srgbClr val="C9CDCF"/>
                </a:solidFill>
                <a:latin typeface="Cambria" pitchFamily="34" charset="0"/>
                <a:ea typeface="Cambria" pitchFamily="34" charset="-122"/>
                <a:cs typeface="Cambria" pitchFamily="34" charset="-120"/>
              </a:rPr>
              <a:t>This study measures how much.</a:t>
            </a:r>
            <a:endParaRPr lang="en-US" sz="1600" dirty="0"/>
          </a:p>
        </p:txBody>
      </p:sp>
      <p:sp>
        <p:nvSpPr>
          <p:cNvPr id="5" name="Text 3"/>
          <p:cNvSpPr txBox="1"/>
          <p:nvPr/>
        </p:nvSpPr>
        <p:spPr>
          <a:xfrm>
            <a:off x="566928" y="5029200"/>
            <a:ext cx="6766560" cy="914400"/>
          </a:xfrm>
          <a:prstGeom prst="rect">
            <a:avLst/>
          </a:prstGeom>
          <a:noFill/>
          <a:ln/>
        </p:spPr>
        <p:txBody>
          <a:bodyPr wrap="square" lIns="0" tIns="0" rIns="0" bIns="0" rtlCol="0" anchor="t"/>
          <a:lstStyle/>
          <a:p>
            <a:pPr indent="0" marL="0">
              <a:lnSpc>
                <a:spcPct val="120000"/>
              </a:lnSpc>
              <a:buNone/>
            </a:pPr>
            <a:r>
              <a:rPr lang="en-US" sz="1250" b="1" dirty="0">
                <a:solidFill>
                  <a:srgbClr val="FFFFFF"/>
                </a:solidFill>
                <a:latin typeface="Calibri" pitchFamily="34" charset="0"/>
                <a:ea typeface="Calibri" pitchFamily="34" charset="-122"/>
                <a:cs typeface="Calibri" pitchFamily="34" charset="-120"/>
              </a:rPr>
              <a:t>Eyong Defang</a:t>
            </a:r>
            <a:endParaRPr lang="en-US" sz="1250" dirty="0"/>
          </a:p>
          <a:p>
            <a:pPr indent="0" marL="0">
              <a:lnSpc>
                <a:spcPct val="120000"/>
              </a:lnSpc>
              <a:buNone/>
            </a:pPr>
            <a:r>
              <a:rPr lang="en-US" sz="1250" dirty="0">
                <a:solidFill>
                  <a:srgbClr val="8A8985"/>
                </a:solidFill>
                <a:latin typeface="Calibri" pitchFamily="34" charset="0"/>
                <a:ea typeface="Calibri" pitchFamily="34" charset="-122"/>
                <a:cs typeface="Calibri" pitchFamily="34" charset="-120"/>
              </a:rPr>
              <a:t>Independent research  ·  September 2026</a:t>
            </a:r>
            <a:endParaRPr lang="en-US" sz="1250" dirty="0"/>
          </a:p>
          <a:p>
            <a:pPr indent="0" marL="0">
              <a:lnSpc>
                <a:spcPct val="120000"/>
              </a:lnSpc>
              <a:buNone/>
            </a:pPr>
            <a:r>
              <a:rPr lang="en-US" sz="1250" dirty="0">
                <a:solidFill>
                  <a:srgbClr val="2A78D6"/>
                </a:solidFill>
                <a:latin typeface="Calibri" pitchFamily="34" charset="0"/>
                <a:ea typeface="Calibri" pitchFamily="34" charset="-122"/>
                <a:cs typeface="Calibri" pitchFamily="34" charset="-120"/>
              </a:rPr>
              <a:t>github.com/edefang/price-discrimination-research</a:t>
            </a:r>
            <a:endParaRPr lang="en-US" sz="1250" dirty="0"/>
          </a:p>
        </p:txBody>
      </p:sp>
      <p:sp>
        <p:nvSpPr>
          <p:cNvPr id="6" name="Shape 4"/>
          <p:cNvSpPr/>
          <p:nvPr/>
        </p:nvSpPr>
        <p:spPr>
          <a:xfrm>
            <a:off x="8092440" y="1325880"/>
            <a:ext cx="3520440" cy="4206240"/>
          </a:xfrm>
          <a:prstGeom prst="roundRect">
            <a:avLst>
              <a:gd name="adj" fmla="val 1558"/>
            </a:avLst>
          </a:prstGeom>
          <a:solidFill>
            <a:srgbClr val="2C3438"/>
          </a:solidFill>
          <a:ln w="12700">
            <a:solidFill>
              <a:srgbClr val="2C3438"/>
            </a:solidFill>
            <a:prstDash val="solid"/>
          </a:ln>
        </p:spPr>
      </p:sp>
      <p:sp>
        <p:nvSpPr>
          <p:cNvPr id="7" name="Text 5"/>
          <p:cNvSpPr txBox="1"/>
          <p:nvPr/>
        </p:nvSpPr>
        <p:spPr>
          <a:xfrm>
            <a:off x="8366760" y="1600200"/>
            <a:ext cx="3017520" cy="603504"/>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86%</a:t>
            </a:r>
            <a:endParaRPr lang="en-US" sz="4000" dirty="0"/>
          </a:p>
        </p:txBody>
      </p:sp>
      <p:sp>
        <p:nvSpPr>
          <p:cNvPr id="8" name="Text 6"/>
          <p:cNvSpPr txBox="1"/>
          <p:nvPr/>
        </p:nvSpPr>
        <p:spPr>
          <a:xfrm>
            <a:off x="8366760" y="2203704"/>
            <a:ext cx="3017520" cy="566928"/>
          </a:xfrm>
          <a:prstGeom prst="rect">
            <a:avLst/>
          </a:prstGeom>
          <a:noFill/>
          <a:ln/>
        </p:spPr>
        <p:txBody>
          <a:bodyPr wrap="square" lIns="0" tIns="0" rIns="0" bIns="0" rtlCol="0" anchor="t"/>
          <a:lstStyle/>
          <a:p>
            <a:pPr indent="0" marL="0">
              <a:lnSpc>
                <a:spcPct val="100000"/>
              </a:lnSpc>
              <a:buNone/>
            </a:pPr>
            <a:r>
              <a:rPr lang="en-US" sz="1150" dirty="0">
                <a:solidFill>
                  <a:srgbClr val="C9CDCF"/>
                </a:solidFill>
                <a:latin typeface="Calibri" pitchFamily="34" charset="0"/>
                <a:ea typeface="Calibri" pitchFamily="34" charset="-122"/>
                <a:cs typeface="Calibri" pitchFamily="34" charset="-120"/>
              </a:rPr>
              <a:t>of clean cohorts flagged by the audited prototype when the retailer's own price stepped mid-sweep</a:t>
            </a:r>
            <a:endParaRPr lang="en-US" sz="1150" dirty="0"/>
          </a:p>
        </p:txBody>
      </p:sp>
      <p:sp>
        <p:nvSpPr>
          <p:cNvPr id="9" name="Text 7"/>
          <p:cNvSpPr txBox="1"/>
          <p:nvPr/>
        </p:nvSpPr>
        <p:spPr>
          <a:xfrm>
            <a:off x="8366760" y="2971800"/>
            <a:ext cx="3017520" cy="603504"/>
          </a:xfrm>
          <a:prstGeom prst="rect">
            <a:avLst/>
          </a:prstGeom>
          <a:noFill/>
          <a:ln/>
        </p:spPr>
        <p:txBody>
          <a:bodyPr wrap="square" lIns="0" tIns="0" rIns="0" bIns="0" rtlCol="0" anchor="ctr"/>
          <a:lstStyle/>
          <a:p>
            <a:pPr indent="0" marL="0">
              <a:buNone/>
            </a:pPr>
            <a:r>
              <a:rPr lang="en-US" sz="3000" b="1" dirty="0">
                <a:solidFill>
                  <a:srgbClr val="2A78D6"/>
                </a:solidFill>
                <a:latin typeface="Cambria" pitchFamily="34" charset="0"/>
                <a:ea typeface="Cambria" pitchFamily="34" charset="-122"/>
                <a:cs typeface="Cambria" pitchFamily="34" charset="-120"/>
              </a:rPr>
              <a:t>34% → 98%</a:t>
            </a:r>
            <a:endParaRPr lang="en-US" sz="3000" dirty="0"/>
          </a:p>
        </p:txBody>
      </p:sp>
      <p:sp>
        <p:nvSpPr>
          <p:cNvPr id="10" name="Text 8"/>
          <p:cNvSpPr txBox="1"/>
          <p:nvPr/>
        </p:nvSpPr>
        <p:spPr>
          <a:xfrm>
            <a:off x="8366760" y="3575304"/>
            <a:ext cx="3017520" cy="566928"/>
          </a:xfrm>
          <a:prstGeom prst="rect">
            <a:avLst/>
          </a:prstGeom>
          <a:noFill/>
          <a:ln/>
        </p:spPr>
        <p:txBody>
          <a:bodyPr wrap="square" lIns="0" tIns="0" rIns="0" bIns="0" rtlCol="0" anchor="t"/>
          <a:lstStyle/>
          <a:p>
            <a:pPr indent="0" marL="0">
              <a:lnSpc>
                <a:spcPct val="100000"/>
              </a:lnSpc>
              <a:buNone/>
            </a:pPr>
            <a:r>
              <a:rPr lang="en-US" sz="1150" dirty="0">
                <a:solidFill>
                  <a:srgbClr val="C9CDCF"/>
                </a:solidFill>
                <a:latin typeface="Calibri" pitchFamily="34" charset="0"/>
                <a:ea typeface="Calibri" pitchFamily="34" charset="-122"/>
                <a:cs typeface="Calibri" pitchFamily="34" charset="-120"/>
              </a:rPr>
              <a:t>mechanism accuracy going from one duplicated control to five replicates per cell</a:t>
            </a:r>
            <a:endParaRPr lang="en-US" sz="1150" dirty="0"/>
          </a:p>
        </p:txBody>
      </p:sp>
      <p:sp>
        <p:nvSpPr>
          <p:cNvPr id="11" name="Text 9"/>
          <p:cNvSpPr txBox="1"/>
          <p:nvPr/>
        </p:nvSpPr>
        <p:spPr>
          <a:xfrm>
            <a:off x="8366760" y="4315968"/>
            <a:ext cx="3017520" cy="603504"/>
          </a:xfrm>
          <a:prstGeom prst="rect">
            <a:avLst/>
          </a:prstGeom>
          <a:noFill/>
          <a:ln/>
        </p:spPr>
        <p:txBody>
          <a:bodyPr wrap="square" lIns="0" tIns="0" rIns="0" bIns="0" rtlCol="0" anchor="ctr"/>
          <a:lstStyle/>
          <a:p>
            <a:pPr indent="0" marL="0">
              <a:buNone/>
            </a:pPr>
            <a:r>
              <a:rPr lang="en-US" sz="4000" b="1" dirty="0">
                <a:solidFill>
                  <a:srgbClr val="1BAF7A"/>
                </a:solidFill>
                <a:latin typeface="Cambria" pitchFamily="34" charset="0"/>
                <a:ea typeface="Cambria" pitchFamily="34" charset="-122"/>
                <a:cs typeface="Cambria" pitchFamily="34" charset="-120"/>
              </a:rPr>
              <a:t>11 / 11</a:t>
            </a:r>
            <a:endParaRPr lang="en-US" sz="4000" dirty="0"/>
          </a:p>
        </p:txBody>
      </p:sp>
      <p:sp>
        <p:nvSpPr>
          <p:cNvPr id="12" name="Text 10"/>
          <p:cNvSpPr txBox="1"/>
          <p:nvPr/>
        </p:nvSpPr>
        <p:spPr>
          <a:xfrm>
            <a:off x="8366760" y="4919472"/>
            <a:ext cx="3017520" cy="566928"/>
          </a:xfrm>
          <a:prstGeom prst="rect">
            <a:avLst/>
          </a:prstGeom>
          <a:noFill/>
          <a:ln/>
        </p:spPr>
        <p:txBody>
          <a:bodyPr wrap="square" lIns="0" tIns="0" rIns="0" bIns="0" rtlCol="0" anchor="t"/>
          <a:lstStyle/>
          <a:p>
            <a:pPr indent="0" marL="0">
              <a:lnSpc>
                <a:spcPct val="100000"/>
              </a:lnSpc>
              <a:buNone/>
            </a:pPr>
            <a:r>
              <a:rPr lang="en-US" sz="1150" dirty="0">
                <a:solidFill>
                  <a:srgbClr val="C9CDCF"/>
                </a:solidFill>
                <a:latin typeface="Calibri" pitchFamily="34" charset="0"/>
                <a:ea typeface="Calibri" pitchFamily="34" charset="-122"/>
                <a:cs typeface="Calibri" pitchFamily="34" charset="-120"/>
              </a:rPr>
              <a:t>ground-truth scenarios recovered by the corrected instrument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2A78D6"/>
          </a:solidFill>
          <a:ln w="12700">
            <a:solidFill>
              <a:srgbClr val="2A78D6"/>
            </a:solidFill>
            <a:prstDash val="solid"/>
          </a:ln>
        </p:spPr>
      </p:sp>
      <p:sp>
        <p:nvSpPr>
          <p:cNvPr id="3" name="Text 1"/>
          <p:cNvSpPr txBox="1"/>
          <p:nvPr/>
        </p:nvSpPr>
        <p:spPr>
          <a:xfrm>
            <a:off x="566928"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133856" y="329184"/>
            <a:ext cx="10488168" cy="512064"/>
          </a:xfrm>
          <a:prstGeom prst="rect">
            <a:avLst/>
          </a:prstGeom>
          <a:noFill/>
          <a:ln/>
        </p:spPr>
        <p:txBody>
          <a:bodyPr wrap="square" lIns="0" tIns="0" rIns="0" bIns="0" rtlCol="0" anchor="ctr"/>
          <a:lstStyle/>
          <a:p>
            <a:pPr indent="0" marL="0">
              <a:buNone/>
            </a:pPr>
            <a:r>
              <a:rPr lang="en-US" sz="3000" b="1" dirty="0">
                <a:solidFill>
                  <a:srgbClr val="111517"/>
                </a:solidFill>
                <a:latin typeface="Cambria" pitchFamily="34" charset="0"/>
                <a:ea typeface="Cambria" pitchFamily="34" charset="-122"/>
                <a:cs typeface="Cambria" pitchFamily="34" charset="-120"/>
              </a:rPr>
              <a:t>A price difference has many causes</a:t>
            </a:r>
            <a:endParaRPr lang="en-US" sz="3000" dirty="0"/>
          </a:p>
        </p:txBody>
      </p:sp>
      <p:sp>
        <p:nvSpPr>
          <p:cNvPr id="5" name="Text 3"/>
          <p:cNvSpPr txBox="1"/>
          <p:nvPr/>
        </p:nvSpPr>
        <p:spPr>
          <a:xfrm>
            <a:off x="1133856" y="877824"/>
            <a:ext cx="10488168" cy="384048"/>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Only one of them is discrimination. An instrument that cannot tell them apart reports whichever it meets first.</a:t>
            </a:r>
            <a:endParaRPr lang="en-US" sz="1400" dirty="0"/>
          </a:p>
        </p:txBody>
      </p:sp>
      <p:sp>
        <p:nvSpPr>
          <p:cNvPr id="6" name="Shape 4"/>
          <p:cNvSpPr/>
          <p:nvPr/>
        </p:nvSpPr>
        <p:spPr>
          <a:xfrm>
            <a:off x="566928" y="1572768"/>
            <a:ext cx="2571750" cy="2057400"/>
          </a:xfrm>
          <a:prstGeom prst="roundRect">
            <a:avLst>
              <a:gd name="adj" fmla="val 2667"/>
            </a:avLst>
          </a:prstGeom>
          <a:solidFill>
            <a:srgbClr val="F4F6F8"/>
          </a:solidFill>
          <a:ln w="9525">
            <a:solidFill>
              <a:srgbClr val="DEDDD6"/>
            </a:solidFill>
            <a:prstDash val="solid"/>
          </a:ln>
        </p:spPr>
      </p:sp>
      <p:sp>
        <p:nvSpPr>
          <p:cNvPr id="7" name="Text 5"/>
          <p:cNvSpPr txBox="1"/>
          <p:nvPr/>
        </p:nvSpPr>
        <p:spPr>
          <a:xfrm>
            <a:off x="768096" y="1719072"/>
            <a:ext cx="2169414" cy="274320"/>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Temporal drift</a:t>
            </a:r>
            <a:endParaRPr lang="en-US" sz="1400" dirty="0"/>
          </a:p>
        </p:txBody>
      </p:sp>
      <p:sp>
        <p:nvSpPr>
          <p:cNvPr id="8" name="Text 6"/>
          <p:cNvSpPr txBox="1"/>
          <p:nvPr/>
        </p:nvSpPr>
        <p:spPr>
          <a:xfrm>
            <a:off x="768096" y="2029968"/>
            <a:ext cx="2169414" cy="1435608"/>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The retailer simply changed the price. Compare across time and every persona looks discriminated against at once.</a:t>
            </a:r>
            <a:endParaRPr lang="en-US" sz="1200" dirty="0"/>
          </a:p>
        </p:txBody>
      </p:sp>
      <p:sp>
        <p:nvSpPr>
          <p:cNvPr id="9" name="Shape 7"/>
          <p:cNvSpPr/>
          <p:nvPr/>
        </p:nvSpPr>
        <p:spPr>
          <a:xfrm>
            <a:off x="3394710" y="1572768"/>
            <a:ext cx="2571750" cy="2057400"/>
          </a:xfrm>
          <a:prstGeom prst="roundRect">
            <a:avLst>
              <a:gd name="adj" fmla="val 2667"/>
            </a:avLst>
          </a:prstGeom>
          <a:solidFill>
            <a:srgbClr val="F4F6F8"/>
          </a:solidFill>
          <a:ln w="9525">
            <a:solidFill>
              <a:srgbClr val="DEDDD6"/>
            </a:solidFill>
            <a:prstDash val="solid"/>
          </a:ln>
        </p:spPr>
      </p:sp>
      <p:sp>
        <p:nvSpPr>
          <p:cNvPr id="10" name="Text 8"/>
          <p:cNvSpPr txBox="1"/>
          <p:nvPr/>
        </p:nvSpPr>
        <p:spPr>
          <a:xfrm>
            <a:off x="3595878" y="1719072"/>
            <a:ext cx="2169414" cy="274320"/>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A/B price testing</a:t>
            </a:r>
            <a:endParaRPr lang="en-US" sz="1400" dirty="0"/>
          </a:p>
        </p:txBody>
      </p:sp>
      <p:sp>
        <p:nvSpPr>
          <p:cNvPr id="11" name="Text 9"/>
          <p:cNvSpPr txBox="1"/>
          <p:nvPr/>
        </p:nvSpPr>
        <p:spPr>
          <a:xfrm>
            <a:off x="3595878" y="2029968"/>
            <a:ext cx="2169414" cy="1435608"/>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Price assigned to a random bucket, not to a consumer attribute. Indistinguishable from discrimination with one observation per cell.</a:t>
            </a:r>
            <a:endParaRPr lang="en-US" sz="1200" dirty="0"/>
          </a:p>
        </p:txBody>
      </p:sp>
      <p:sp>
        <p:nvSpPr>
          <p:cNvPr id="12" name="Shape 10"/>
          <p:cNvSpPr/>
          <p:nvPr/>
        </p:nvSpPr>
        <p:spPr>
          <a:xfrm>
            <a:off x="6222492" y="1572768"/>
            <a:ext cx="2571750" cy="2057400"/>
          </a:xfrm>
          <a:prstGeom prst="roundRect">
            <a:avLst>
              <a:gd name="adj" fmla="val 2667"/>
            </a:avLst>
          </a:prstGeom>
          <a:solidFill>
            <a:srgbClr val="F4F6F8"/>
          </a:solidFill>
          <a:ln w="9525">
            <a:solidFill>
              <a:srgbClr val="DEDDD6"/>
            </a:solidFill>
            <a:prstDash val="solid"/>
          </a:ln>
        </p:spPr>
      </p:sp>
      <p:sp>
        <p:nvSpPr>
          <p:cNvPr id="13" name="Text 11"/>
          <p:cNvSpPr txBox="1"/>
          <p:nvPr/>
        </p:nvSpPr>
        <p:spPr>
          <a:xfrm>
            <a:off x="6423660" y="1719072"/>
            <a:ext cx="2169414" cy="274320"/>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Differential blocking</a:t>
            </a:r>
            <a:endParaRPr lang="en-US" sz="1400" dirty="0"/>
          </a:p>
        </p:txBody>
      </p:sp>
      <p:sp>
        <p:nvSpPr>
          <p:cNvPr id="14" name="Text 12"/>
          <p:cNvSpPr txBox="1"/>
          <p:nvPr/>
        </p:nvSpPr>
        <p:spPr>
          <a:xfrm>
            <a:off x="6423660" y="2029968"/>
            <a:ext cx="2169414" cy="1435608"/>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Anti-bot systems drop the unusual visitor — precisely the one most likely to be priced differently. The gap becomes invisible.</a:t>
            </a:r>
            <a:endParaRPr lang="en-US" sz="1200" dirty="0"/>
          </a:p>
        </p:txBody>
      </p:sp>
      <p:sp>
        <p:nvSpPr>
          <p:cNvPr id="15" name="Shape 13"/>
          <p:cNvSpPr/>
          <p:nvPr/>
        </p:nvSpPr>
        <p:spPr>
          <a:xfrm>
            <a:off x="9050274" y="1572768"/>
            <a:ext cx="2571750" cy="2057400"/>
          </a:xfrm>
          <a:prstGeom prst="roundRect">
            <a:avLst>
              <a:gd name="adj" fmla="val 2667"/>
            </a:avLst>
          </a:prstGeom>
          <a:solidFill>
            <a:srgbClr val="F4F6F8"/>
          </a:solidFill>
          <a:ln w="9525">
            <a:solidFill>
              <a:srgbClr val="DEDDD6"/>
            </a:solidFill>
            <a:prstDash val="solid"/>
          </a:ln>
        </p:spPr>
      </p:sp>
      <p:sp>
        <p:nvSpPr>
          <p:cNvPr id="16" name="Text 14"/>
          <p:cNvSpPr txBox="1"/>
          <p:nvPr/>
        </p:nvSpPr>
        <p:spPr>
          <a:xfrm>
            <a:off x="9251442" y="1719072"/>
            <a:ext cx="2169414" cy="274320"/>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Silent parse errors</a:t>
            </a:r>
            <a:endParaRPr lang="en-US" sz="1400" dirty="0"/>
          </a:p>
        </p:txBody>
      </p:sp>
      <p:sp>
        <p:nvSpPr>
          <p:cNvPr id="17" name="Text 15"/>
          <p:cNvSpPr txBox="1"/>
          <p:nvPr/>
        </p:nvSpPr>
        <p:spPr>
          <a:xfrm>
            <a:off x="9251442" y="2029968"/>
            <a:ext cx="2169414" cy="1435608"/>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A wrong number entered without an error. Worse than a missing one, because a missing one is visible.</a:t>
            </a:r>
            <a:endParaRPr lang="en-US" sz="1200" dirty="0"/>
          </a:p>
        </p:txBody>
      </p:sp>
      <p:sp>
        <p:nvSpPr>
          <p:cNvPr id="18" name="Shape 16"/>
          <p:cNvSpPr/>
          <p:nvPr/>
        </p:nvSpPr>
        <p:spPr>
          <a:xfrm>
            <a:off x="566928" y="3950208"/>
            <a:ext cx="11055096" cy="1024128"/>
          </a:xfrm>
          <a:prstGeom prst="roundRect">
            <a:avLst>
              <a:gd name="adj" fmla="val 5357"/>
            </a:avLst>
          </a:prstGeom>
          <a:solidFill>
            <a:srgbClr val="EDF3FB"/>
          </a:solidFill>
          <a:ln w="9525">
            <a:solidFill>
              <a:srgbClr val="D3E2F6"/>
            </a:solidFill>
            <a:prstDash val="solid"/>
          </a:ln>
        </p:spPr>
      </p:sp>
      <p:sp>
        <p:nvSpPr>
          <p:cNvPr id="19" name="Text 17"/>
          <p:cNvSpPr txBox="1"/>
          <p:nvPr/>
        </p:nvSpPr>
        <p:spPr>
          <a:xfrm>
            <a:off x="822960" y="4096512"/>
            <a:ext cx="10543032" cy="731520"/>
          </a:xfrm>
          <a:prstGeom prst="rect">
            <a:avLst/>
          </a:prstGeom>
          <a:noFill/>
          <a:ln/>
        </p:spPr>
        <p:txBody>
          <a:bodyPr wrap="square" lIns="0" tIns="0" rIns="0" bIns="0" rtlCol="0" anchor="ctr"/>
          <a:lstStyle/>
          <a:p>
            <a:pPr indent="0" marL="0">
              <a:lnSpc>
                <a:spcPct val="105000"/>
              </a:lnSpc>
              <a:buNone/>
            </a:pPr>
            <a:r>
              <a:rPr lang="en-US" sz="1350" b="1" dirty="0">
                <a:solidFill>
                  <a:srgbClr val="111517"/>
                </a:solidFill>
                <a:latin typeface="Calibri" pitchFamily="34" charset="0"/>
                <a:ea typeface="Calibri" pitchFamily="34" charset="-122"/>
                <a:cs typeface="Calibri" pitchFamily="34" charset="-120"/>
              </a:rPr>
              <a:t>The unit of comparison has to be constructed.  </a:t>
            </a:r>
            <a:pPr indent="0" marL="0">
              <a:lnSpc>
                <a:spcPct val="105000"/>
              </a:lnSpc>
              <a:buNone/>
            </a:pPr>
            <a:r>
              <a:rPr lang="en-US" sz="1350" dirty="0">
                <a:solidFill>
                  <a:srgbClr val="52514E"/>
                </a:solidFill>
                <a:latin typeface="Calibri" pitchFamily="34" charset="0"/>
                <a:ea typeface="Calibri" pitchFamily="34" charset="-122"/>
                <a:cs typeface="Calibri" pitchFamily="34" charset="-120"/>
              </a:rPr>
              <a:t>Two prices are comparable only if they are for the same good, at the same moment, from the same seller, and differ only in the buyer's attributes. Every one of those conditions can fail quietly.</a:t>
            </a:r>
            <a:endParaRPr lang="en-US" sz="1350" dirty="0"/>
          </a:p>
        </p:txBody>
      </p:sp>
      <p:sp>
        <p:nvSpPr>
          <p:cNvPr id="20" name="Text 18"/>
          <p:cNvSpPr txBox="1"/>
          <p:nvPr/>
        </p:nvSpPr>
        <p:spPr>
          <a:xfrm>
            <a:off x="566928" y="5193792"/>
            <a:ext cx="11055096" cy="548640"/>
          </a:xfrm>
          <a:prstGeom prst="rect">
            <a:avLst/>
          </a:prstGeom>
          <a:noFill/>
          <a:ln/>
        </p:spPr>
        <p:txBody>
          <a:bodyPr wrap="square" lIns="0" tIns="0" rIns="0" bIns="0" rtlCol="0" anchor="t"/>
          <a:lstStyle/>
          <a:p>
            <a:pPr indent="0" marL="0">
              <a:buNone/>
            </a:pPr>
            <a:r>
              <a:rPr lang="en-US" sz="1400" i="1" dirty="0">
                <a:solidFill>
                  <a:srgbClr val="52514E"/>
                </a:solidFill>
                <a:latin typeface="Cambria" pitchFamily="34" charset="0"/>
                <a:ea typeface="Cambria" pitchFamily="34" charset="-122"/>
                <a:cs typeface="Cambria" pitchFamily="34" charset="-120"/>
              </a:rPr>
              <a:t>Consumers “shop alone”: there is no natural comparison available to an individual, which is both why differential pricing can operate undetected and why measurement is needed.</a:t>
            </a:r>
            <a:endParaRPr lang="en-US" sz="1400" dirty="0"/>
          </a:p>
        </p:txBody>
      </p:sp>
      <p:sp>
        <p:nvSpPr>
          <p:cNvPr id="21" name="Text 19"/>
          <p:cNvSpPr txBox="1"/>
          <p:nvPr/>
        </p:nvSpPr>
        <p:spPr>
          <a:xfrm>
            <a:off x="566928" y="6327648"/>
            <a:ext cx="11055096" cy="274320"/>
          </a:xfrm>
          <a:prstGeom prst="rect">
            <a:avLst/>
          </a:prstGeom>
          <a:noFill/>
          <a:ln/>
        </p:spPr>
        <p:txBody>
          <a:bodyPr wrap="square" lIns="0" tIns="0" rIns="0" bIns="0" rtlCol="0" anchor="ctr"/>
          <a:lstStyle/>
          <a:p>
            <a:pPr indent="0" marL="0">
              <a:buNone/>
            </a:pPr>
            <a:r>
              <a:rPr lang="en-US" sz="950" dirty="0">
                <a:solidFill>
                  <a:srgbClr val="8A8985"/>
                </a:solidFill>
                <a:latin typeface="Calibri" pitchFamily="34" charset="0"/>
                <a:ea typeface="Calibri" pitchFamily="34" charset="-122"/>
                <a:cs typeface="Calibri" pitchFamily="34" charset="-120"/>
              </a:rPr>
              <a:t>Karan, Balepur &amp; Sundaram, FAccT 2023  ·  Hannak et al., IMC 2014</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2A78D6"/>
          </a:solidFill>
          <a:ln w="12700">
            <a:solidFill>
              <a:srgbClr val="2A78D6"/>
            </a:solidFill>
            <a:prstDash val="solid"/>
          </a:ln>
        </p:spPr>
      </p:sp>
      <p:sp>
        <p:nvSpPr>
          <p:cNvPr id="3" name="Text 1"/>
          <p:cNvSpPr txBox="1"/>
          <p:nvPr/>
        </p:nvSpPr>
        <p:spPr>
          <a:xfrm>
            <a:off x="566928"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txBox="1"/>
          <p:nvPr/>
        </p:nvSpPr>
        <p:spPr>
          <a:xfrm>
            <a:off x="1133856" y="329184"/>
            <a:ext cx="10488168" cy="512064"/>
          </a:xfrm>
          <a:prstGeom prst="rect">
            <a:avLst/>
          </a:prstGeom>
          <a:noFill/>
          <a:ln/>
        </p:spPr>
        <p:txBody>
          <a:bodyPr wrap="square" lIns="0" tIns="0" rIns="0" bIns="0" rtlCol="0" anchor="ctr"/>
          <a:lstStyle/>
          <a:p>
            <a:pPr indent="0" marL="0">
              <a:buNone/>
            </a:pPr>
            <a:r>
              <a:rPr lang="en-US" sz="3000" b="1" dirty="0">
                <a:solidFill>
                  <a:srgbClr val="111517"/>
                </a:solidFill>
                <a:latin typeface="Cambria" pitchFamily="34" charset="0"/>
                <a:ea typeface="Cambria" pitchFamily="34" charset="-122"/>
                <a:cs typeface="Cambria" pitchFamily="34" charset="-120"/>
              </a:rPr>
              <a:t>I built one. Then I audited it.</a:t>
            </a:r>
            <a:endParaRPr lang="en-US" sz="3000" dirty="0"/>
          </a:p>
        </p:txBody>
      </p:sp>
      <p:sp>
        <p:nvSpPr>
          <p:cNvPr id="5" name="Text 3"/>
          <p:cNvSpPr txBox="1"/>
          <p:nvPr/>
        </p:nvSpPr>
        <p:spPr>
          <a:xfrm>
            <a:off x="1133856" y="877824"/>
            <a:ext cx="10488168" cy="384048"/>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A Playwright scraper, three browser personas, flag anything 5% above the cohort median. Built June 2026 as a startup's cold-start engine. Never once run successfully.</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847088"/>
          <a:ext cx="11055096" cy="914400"/>
        </p:xfrm>
        <a:graphic>
          <a:graphicData uri="http://schemas.openxmlformats.org/drawingml/2006/table">
            <a:tbl>
              <a:tblPr/>
              <a:tblGrid>
                <a:gridCol w="2286000"/>
                <a:gridCol w="3840480"/>
                <a:gridCol w="4928616"/>
              </a:tblGrid>
              <a:tr h="292608">
                <a:tc>
                  <a:txBody>
                    <a:bodyPr/>
                    <a:lstStyle/>
                    <a:p>
                      <a:pPr indent="0" marL="0">
                        <a:buNone/>
                      </a:pPr>
                      <a:r>
                        <a:rPr lang="en-US" sz="1150" b="1" dirty="0">
                          <a:solidFill>
                            <a:srgbClr val="52514E"/>
                          </a:solidFill>
                          <a:latin typeface="Calibri" pitchFamily="34" charset="0"/>
                          <a:ea typeface="Calibri" pitchFamily="34" charset="-122"/>
                          <a:cs typeface="Calibri" pitchFamily="34" charset="-120"/>
                        </a:rPr>
                        <a:t>Defect</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b="1" dirty="0">
                          <a:solidFill>
                            <a:srgbClr val="52514E"/>
                          </a:solidFill>
                          <a:latin typeface="Calibri" pitchFamily="34" charset="0"/>
                          <a:ea typeface="Calibri" pitchFamily="34" charset="-122"/>
                          <a:cs typeface="Calibri" pitchFamily="34" charset="-120"/>
                        </a:rPr>
                        <a:t>What the code did</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b="1" dirty="0">
                          <a:solidFill>
                            <a:srgbClr val="52514E"/>
                          </a:solidFill>
                          <a:latin typeface="Calibri" pitchFamily="34" charset="0"/>
                          <a:ea typeface="Calibri" pitchFamily="34" charset="-122"/>
                          <a:cs typeface="Calibri" pitchFamily="34" charset="-120"/>
                        </a:rPr>
                        <a:t>Verified outcome</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A1  Cross-time pooling</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Grouped by product only — every observation ever recorded entered one median</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A $100 → $115 price change, no persona treated differently, flagged all three at +6.98%</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438912">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A2  One-sided test</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Flagged only prices above the median</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A persona shown a 17% targeted discount was not flagged at all</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438912">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A3  Self-inclusive baseline</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The median included the observation under test</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With three personas at most one could ever flag; the middle one never could</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502920">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B1  Silent parse failure</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A regex that guessed decimal separators</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$1,299.00 parsed as 129.0 — seven of nine common formats wrong, no error raised</a:t>
                      </a:r>
                      <a:endParaRPr lang="en-US" sz="1150" dirty="0">
                        <a:latin typeface="Calibri" charset="0"/>
                        <a:ea typeface="Calibri" charset="0"/>
                        <a:cs typeface="Calibri" charset="0"/>
                      </a:endParaRPr>
                    </a:p>
                  </a:txBody>
                  <a:tcPr marL="82296" marR="82296" marT="82296" marB="82296" anchor="t">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4864608"/>
            <a:ext cx="11055096" cy="1005840"/>
          </a:xfrm>
          <a:prstGeom prst="roundRect">
            <a:avLst>
              <a:gd name="adj" fmla="val 5455"/>
            </a:avLst>
          </a:prstGeom>
          <a:solidFill>
            <a:srgbClr val="FDF0EA"/>
          </a:solidFill>
          <a:ln w="9525">
            <a:solidFill>
              <a:srgbClr val="F7D6C6"/>
            </a:solidFill>
            <a:prstDash val="solid"/>
          </a:ln>
        </p:spPr>
      </p:sp>
      <p:sp>
        <p:nvSpPr>
          <p:cNvPr id="8" name="Text 5"/>
          <p:cNvSpPr txBox="1"/>
          <p:nvPr/>
        </p:nvSpPr>
        <p:spPr>
          <a:xfrm>
            <a:off x="822960" y="5010912"/>
            <a:ext cx="10543032" cy="713232"/>
          </a:xfrm>
          <a:prstGeom prst="rect">
            <a:avLst/>
          </a:prstGeom>
          <a:noFill/>
          <a:ln/>
        </p:spPr>
        <p:txBody>
          <a:bodyPr wrap="square" lIns="0" tIns="0" rIns="0" bIns="0" rtlCol="0" anchor="ctr"/>
          <a:lstStyle/>
          <a:p>
            <a:pPr indent="0" marL="0">
              <a:lnSpc>
                <a:spcPct val="105000"/>
              </a:lnSpc>
              <a:buNone/>
            </a:pPr>
            <a:r>
              <a:rPr lang="en-US" sz="1350" b="1" dirty="0">
                <a:solidFill>
                  <a:srgbClr val="EB6834"/>
                </a:solidFill>
                <a:latin typeface="Calibri" pitchFamily="34" charset="0"/>
                <a:ea typeface="Calibri" pitchFamily="34" charset="-122"/>
                <a:cs typeface="Calibri" pitchFamily="34" charset="-120"/>
              </a:rPr>
              <a:t>Every defect biased the same way — toward reporting a finding.  </a:t>
            </a:r>
            <a:pPr indent="0" marL="0">
              <a:lnSpc>
                <a:spcPct val="105000"/>
              </a:lnSpc>
              <a:buNone/>
            </a:pPr>
            <a:r>
              <a:rPr lang="en-US" sz="1350" dirty="0">
                <a:solidFill>
                  <a:srgbClr val="52514E"/>
                </a:solidFill>
                <a:latin typeface="Calibri" pitchFamily="34" charset="0"/>
                <a:ea typeface="Calibri" pitchFamily="34" charset="-122"/>
                <a:cs typeface="Calibri" pitchFamily="34" charset="-120"/>
              </a:rPr>
              <a:t>Not dishonesty. It is what building a detector whose purpose is to detect does to a measurement layer, because a product that finds nothing has no reason to exist.</a:t>
            </a:r>
            <a:endParaRPr lang="en-US" sz="1350" dirty="0"/>
          </a:p>
        </p:txBody>
      </p:sp>
      <p:sp>
        <p:nvSpPr>
          <p:cNvPr id="9" name="Text 6"/>
          <p:cNvSpPr txBox="1"/>
          <p:nvPr/>
        </p:nvSpPr>
        <p:spPr>
          <a:xfrm>
            <a:off x="566928" y="6327648"/>
            <a:ext cx="11055096" cy="274320"/>
          </a:xfrm>
          <a:prstGeom prst="rect">
            <a:avLst/>
          </a:prstGeom>
          <a:noFill/>
          <a:ln/>
        </p:spPr>
        <p:txBody>
          <a:bodyPr wrap="square" lIns="0" tIns="0" rIns="0" bIns="0" rtlCol="0" anchor="ctr"/>
          <a:lstStyle/>
          <a:p>
            <a:pPr indent="0" marL="0">
              <a:buNone/>
            </a:pPr>
            <a:r>
              <a:rPr lang="en-US" sz="950" dirty="0">
                <a:solidFill>
                  <a:srgbClr val="8A8985"/>
                </a:solidFill>
                <a:latin typeface="Calibri" pitchFamily="34" charset="0"/>
                <a:ea typeface="Calibri" pitchFamily="34" charset="-122"/>
                <a:cs typeface="Calibri" pitchFamily="34" charset="-120"/>
              </a:rPr>
              <a:t>Each defect verified by executing the prototype's own logic on constructed inputs — see AUDIT-v0-prototype.md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2A78D6"/>
          </a:solidFill>
          <a:ln w="12700">
            <a:solidFill>
              <a:srgbClr val="2A78D6"/>
            </a:solidFill>
            <a:prstDash val="solid"/>
          </a:ln>
        </p:spPr>
      </p:sp>
      <p:sp>
        <p:nvSpPr>
          <p:cNvPr id="3" name="Text 1"/>
          <p:cNvSpPr txBox="1"/>
          <p:nvPr/>
        </p:nvSpPr>
        <p:spPr>
          <a:xfrm>
            <a:off x="566928"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txBox="1"/>
          <p:nvPr/>
        </p:nvSpPr>
        <p:spPr>
          <a:xfrm>
            <a:off x="1133856" y="329184"/>
            <a:ext cx="10488168" cy="512064"/>
          </a:xfrm>
          <a:prstGeom prst="rect">
            <a:avLst/>
          </a:prstGeom>
          <a:noFill/>
          <a:ln/>
        </p:spPr>
        <p:txBody>
          <a:bodyPr wrap="square" lIns="0" tIns="0" rIns="0" bIns="0" rtlCol="0" anchor="ctr"/>
          <a:lstStyle/>
          <a:p>
            <a:pPr indent="0" marL="0">
              <a:buNone/>
            </a:pPr>
            <a:r>
              <a:rPr lang="en-US" sz="3000" b="1" dirty="0">
                <a:solidFill>
                  <a:srgbClr val="111517"/>
                </a:solidFill>
                <a:latin typeface="Cambria" pitchFamily="34" charset="0"/>
                <a:ea typeface="Cambria" pitchFamily="34" charset="-122"/>
                <a:cs typeface="Cambria" pitchFamily="34" charset="-120"/>
              </a:rPr>
              <a:t>Reframing inverts the incentive</a:t>
            </a:r>
            <a:endParaRPr lang="en-US" sz="3000" dirty="0"/>
          </a:p>
        </p:txBody>
      </p:sp>
      <p:sp>
        <p:nvSpPr>
          <p:cNvPr id="5" name="Text 3"/>
          <p:cNvSpPr txBox="1"/>
          <p:nvPr/>
        </p:nvSpPr>
        <p:spPr>
          <a:xfrm>
            <a:off x="1133856" y="877824"/>
            <a:ext cx="10488168" cy="384048"/>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Under a product frame, finding nothing kills the work. Under a research frame, a rigorous null is the result.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6903720" cy="914400"/>
        </p:xfrm>
        <a:graphic>
          <a:graphicData uri="http://schemas.openxmlformats.org/drawingml/2006/table">
            <a:tbl>
              <a:tblPr/>
              <a:tblGrid>
                <a:gridCol w="1417320"/>
                <a:gridCol w="2606040"/>
                <a:gridCol w="2880360"/>
              </a:tblGrid>
              <a:tr h="384048">
                <a:tc>
                  <a:txBody>
                    <a:bodyPr/>
                    <a:lstStyle/>
                    <a:p>
                      <a:pPr indent="0" marL="0">
                        <a:buNone/>
                      </a:pP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Startup frame</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Research frame</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Goal</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Detect gaps users can act on</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Estimate prevalence, magnitude, determinants</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Success</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Users, retention, savings delivered</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A defensible estimate with stated uncertainty</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A null result</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Kills the product</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Is the finding</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Incentive</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Sensitivity — find something</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Validity — measure correctly</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Failure mode</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Users churn</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indent="0" marL="0">
                        <a:buNone/>
                      </a:pPr>
                      <a:r>
                        <a:rPr lang="en-US" sz="1150" dirty="0">
                          <a:solidFill>
                            <a:srgbClr val="52514E"/>
                          </a:solidFill>
                          <a:latin typeface="Calibri" pitchFamily="34" charset="0"/>
                          <a:ea typeface="Calibri" pitchFamily="34" charset="-122"/>
                          <a:cs typeface="Calibri" pitchFamily="34" charset="-120"/>
                        </a:rPr>
                        <a:t>A confident wrong number enters the record</a:t>
                      </a:r>
                      <a:endParaRPr lang="en-US" sz="1150" dirty="0">
                        <a:latin typeface="Calibri" charset="0"/>
                        <a:ea typeface="Calibri" charset="0"/>
                        <a:cs typeface="Calibri" charset="0"/>
                      </a:endParaRPr>
                    </a:p>
                  </a:txBody>
                  <a:tcPr marL="82296" marR="82296" marT="82296" marB="82296"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bl>
          </a:graphicData>
        </a:graphic>
      </p:graphicFrame>
      <p:sp>
        <p:nvSpPr>
          <p:cNvPr id="7" name="Shape 4"/>
          <p:cNvSpPr/>
          <p:nvPr/>
        </p:nvSpPr>
        <p:spPr>
          <a:xfrm>
            <a:off x="7818120" y="1783080"/>
            <a:ext cx="3803904" cy="1828800"/>
          </a:xfrm>
          <a:prstGeom prst="roundRect">
            <a:avLst>
              <a:gd name="adj" fmla="val 3000"/>
            </a:avLst>
          </a:prstGeom>
          <a:solidFill>
            <a:srgbClr val="F4F6F8"/>
          </a:solidFill>
          <a:ln w="9525">
            <a:solidFill>
              <a:srgbClr val="DEDDD6"/>
            </a:solidFill>
            <a:prstDash val="solid"/>
          </a:ln>
        </p:spPr>
      </p:sp>
      <p:sp>
        <p:nvSpPr>
          <p:cNvPr id="8" name="Text 5"/>
          <p:cNvSpPr txBox="1"/>
          <p:nvPr/>
        </p:nvSpPr>
        <p:spPr>
          <a:xfrm>
            <a:off x="8019288" y="1929384"/>
            <a:ext cx="3401568" cy="274320"/>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Then feasibility cut the scope</a:t>
            </a:r>
            <a:endParaRPr lang="en-US" sz="1400" dirty="0"/>
          </a:p>
        </p:txBody>
      </p:sp>
      <p:sp>
        <p:nvSpPr>
          <p:cNvPr id="9" name="Text 6"/>
          <p:cNvSpPr txBox="1"/>
          <p:nvPr/>
        </p:nvSpPr>
        <p:spPr>
          <a:xfrm>
            <a:off x="8019288" y="2240280"/>
            <a:ext cx="3401568" cy="1207008"/>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Every blocker sat in one place: live commercial retailers. Legal exposure on one uninsured individual, anti-bot systems likely to win regardless, and residential proxies whose IPs are sourced without meaningful consent.</a:t>
            </a:r>
            <a:endParaRPr lang="en-US" sz="1200" dirty="0"/>
          </a:p>
        </p:txBody>
      </p:sp>
      <p:sp>
        <p:nvSpPr>
          <p:cNvPr id="10" name="Shape 7"/>
          <p:cNvSpPr/>
          <p:nvPr/>
        </p:nvSpPr>
        <p:spPr>
          <a:xfrm>
            <a:off x="7818120" y="3767328"/>
            <a:ext cx="3803904" cy="1828800"/>
          </a:xfrm>
          <a:prstGeom prst="roundRect">
            <a:avLst>
              <a:gd name="adj" fmla="val 3000"/>
            </a:avLst>
          </a:prstGeom>
          <a:solidFill>
            <a:srgbClr val="F4F6F8"/>
          </a:solidFill>
          <a:ln w="9525">
            <a:solidFill>
              <a:srgbClr val="DEDDD6"/>
            </a:solidFill>
            <a:prstDash val="solid"/>
          </a:ln>
        </p:spPr>
      </p:sp>
      <p:sp>
        <p:nvSpPr>
          <p:cNvPr id="11" name="Text 8"/>
          <p:cNvSpPr txBox="1"/>
          <p:nvPr/>
        </p:nvSpPr>
        <p:spPr>
          <a:xfrm>
            <a:off x="8019288" y="3913632"/>
            <a:ext cx="3401568" cy="27432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So the study moved</a:t>
            </a:r>
            <a:endParaRPr lang="en-US" sz="1400" dirty="0"/>
          </a:p>
        </p:txBody>
      </p:sp>
      <p:sp>
        <p:nvSpPr>
          <p:cNvPr id="12" name="Text 9"/>
          <p:cNvSpPr txBox="1"/>
          <p:nvPr/>
        </p:nvSpPr>
        <p:spPr>
          <a:xfrm>
            <a:off x="8019288" y="4224528"/>
            <a:ext cx="3401568" cy="1207008"/>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Everything else was free. The question became how well this can be measured at all — answerable by simulation, where the ground truth is known by construction. The field design is retained for revival.</a:t>
            </a:r>
            <a:endParaRPr lang="en-US" sz="1200" dirty="0"/>
          </a:p>
        </p:txBody>
      </p:sp>
      <p:sp>
        <p:nvSpPr>
          <p:cNvPr id="13" name="Text 10"/>
          <p:cNvSpPr txBox="1"/>
          <p:nvPr/>
        </p:nvSpPr>
        <p:spPr>
          <a:xfrm>
            <a:off x="566928" y="5138928"/>
            <a:ext cx="6903720" cy="457200"/>
          </a:xfrm>
          <a:prstGeom prst="rect">
            <a:avLst/>
          </a:prstGeom>
          <a:noFill/>
          <a:ln/>
        </p:spPr>
        <p:txBody>
          <a:bodyPr wrap="square" lIns="0" tIns="0" rIns="0" bIns="0" rtlCol="0" anchor="ctr"/>
          <a:lstStyle/>
          <a:p>
            <a:pPr indent="0" marL="0">
              <a:buNone/>
            </a:pPr>
            <a:r>
              <a:rPr lang="en-US" sz="1400" i="1" dirty="0">
                <a:solidFill>
                  <a:srgbClr val="52514E"/>
                </a:solidFill>
                <a:latin typeface="Cambria" pitchFamily="34" charset="0"/>
                <a:ea typeface="Cambria" pitchFamily="34" charset="-122"/>
                <a:cs typeface="Cambria" pitchFamily="34" charset="-120"/>
              </a:rPr>
              <a:t>Total cost of the study: zero. No paid service, no proxy provider, no cloud infrastructure.</a:t>
            </a:r>
            <a:endParaRPr lang="en-US" sz="1400" dirty="0"/>
          </a:p>
        </p:txBody>
      </p:sp>
      <p:sp>
        <p:nvSpPr>
          <p:cNvPr id="14" name="Text 11"/>
          <p:cNvSpPr txBox="1"/>
          <p:nvPr/>
        </p:nvSpPr>
        <p:spPr>
          <a:xfrm>
            <a:off x="566928" y="6327648"/>
            <a:ext cx="11055096" cy="274320"/>
          </a:xfrm>
          <a:prstGeom prst="rect">
            <a:avLst/>
          </a:prstGeom>
          <a:noFill/>
          <a:ln/>
        </p:spPr>
        <p:txBody>
          <a:bodyPr wrap="square" lIns="0" tIns="0" rIns="0" bIns="0" rtlCol="0" anchor="ctr"/>
          <a:lstStyle/>
          <a:p>
            <a:pPr indent="0" marL="0">
              <a:buNone/>
            </a:pPr>
            <a:r>
              <a:rPr lang="en-US" sz="950" dirty="0">
                <a:solidFill>
                  <a:srgbClr val="8A8985"/>
                </a:solidFill>
                <a:latin typeface="Calibri" pitchFamily="34" charset="0"/>
                <a:ea typeface="Calibri" pitchFamily="34" charset="-122"/>
                <a:cs typeface="Calibri" pitchFamily="34" charset="-120"/>
              </a:rPr>
              <a:t>docs/00-from-startup-to-research.md  ·  docs/09-feasibility-assessment.md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2A78D6"/>
          </a:solidFill>
          <a:ln w="12700">
            <a:solidFill>
              <a:srgbClr val="2A78D6"/>
            </a:solidFill>
            <a:prstDash val="solid"/>
          </a:ln>
        </p:spPr>
      </p:sp>
      <p:sp>
        <p:nvSpPr>
          <p:cNvPr id="3" name="Text 1"/>
          <p:cNvSpPr txBox="1"/>
          <p:nvPr/>
        </p:nvSpPr>
        <p:spPr>
          <a:xfrm>
            <a:off x="566928"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txBox="1"/>
          <p:nvPr/>
        </p:nvSpPr>
        <p:spPr>
          <a:xfrm>
            <a:off x="1133856" y="329184"/>
            <a:ext cx="10488168" cy="512064"/>
          </a:xfrm>
          <a:prstGeom prst="rect">
            <a:avLst/>
          </a:prstGeom>
          <a:noFill/>
          <a:ln/>
        </p:spPr>
        <p:txBody>
          <a:bodyPr wrap="square" lIns="0" tIns="0" rIns="0" bIns="0" rtlCol="0" anchor="ctr"/>
          <a:lstStyle/>
          <a:p>
            <a:pPr indent="0" marL="0">
              <a:buNone/>
            </a:pPr>
            <a:r>
              <a:rPr lang="en-US" sz="3000" b="1" dirty="0">
                <a:solidFill>
                  <a:srgbClr val="111517"/>
                </a:solidFill>
                <a:latin typeface="Cambria" pitchFamily="34" charset="0"/>
                <a:ea typeface="Cambria" pitchFamily="34" charset="-122"/>
                <a:cs typeface="Cambria" pitchFamily="34" charset="-120"/>
              </a:rPr>
              <a:t>An instrument, checked against known truth</a:t>
            </a:r>
            <a:endParaRPr lang="en-US" sz="3000" dirty="0"/>
          </a:p>
        </p:txBody>
      </p:sp>
      <p:sp>
        <p:nvSpPr>
          <p:cNvPr id="5" name="Text 3"/>
          <p:cNvSpPr txBox="1"/>
          <p:nvPr/>
        </p:nvSpPr>
        <p:spPr>
          <a:xfrm>
            <a:off x="1133856" y="877824"/>
            <a:ext cx="10488168" cy="384048"/>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Ten requirements, each traceable to an audited defect. Then validated end to end against a storefront that prices by persona on purpose.</a:t>
            </a:r>
            <a:endParaRPr lang="en-US" sz="1400" dirty="0"/>
          </a:p>
        </p:txBody>
      </p:sp>
      <p:sp>
        <p:nvSpPr>
          <p:cNvPr id="6" name="Shape 4"/>
          <p:cNvSpPr/>
          <p:nvPr/>
        </p:nvSpPr>
        <p:spPr>
          <a:xfrm>
            <a:off x="566928" y="1783080"/>
            <a:ext cx="3332988" cy="1170432"/>
          </a:xfrm>
          <a:prstGeom prst="roundRect">
            <a:avLst>
              <a:gd name="adj" fmla="val 4688"/>
            </a:avLst>
          </a:prstGeom>
          <a:solidFill>
            <a:srgbClr val="F4F6F8"/>
          </a:solidFill>
          <a:ln w="9525">
            <a:solidFill>
              <a:srgbClr val="DEDDD6"/>
            </a:solidFill>
            <a:prstDash val="solid"/>
          </a:ln>
        </p:spPr>
      </p:sp>
      <p:sp>
        <p:nvSpPr>
          <p:cNvPr id="7" name="Text 5"/>
          <p:cNvSpPr txBox="1"/>
          <p:nvPr/>
        </p:nvSpPr>
        <p:spPr>
          <a:xfrm>
            <a:off x="768096" y="1929384"/>
            <a:ext cx="2930652" cy="27432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R1  The sweep is the unit</a:t>
            </a:r>
            <a:endParaRPr lang="en-US" sz="1300" dirty="0"/>
          </a:p>
        </p:txBody>
      </p:sp>
      <p:sp>
        <p:nvSpPr>
          <p:cNvPr id="8" name="Text 6"/>
          <p:cNvSpPr txBox="1"/>
          <p:nvPr/>
        </p:nvSpPr>
        <p:spPr>
          <a:xfrm>
            <a:off x="768096" y="2240280"/>
            <a:ext cx="2930652" cy="548640"/>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No price is ever compared across sweeps. Temporal drift is measured separately, by a control persona.</a:t>
            </a:r>
            <a:endParaRPr lang="en-US" sz="1200" dirty="0"/>
          </a:p>
        </p:txBody>
      </p:sp>
      <p:sp>
        <p:nvSpPr>
          <p:cNvPr id="9" name="Shape 7"/>
          <p:cNvSpPr/>
          <p:nvPr/>
        </p:nvSpPr>
        <p:spPr>
          <a:xfrm>
            <a:off x="4137660" y="1783080"/>
            <a:ext cx="3332988" cy="1170432"/>
          </a:xfrm>
          <a:prstGeom prst="roundRect">
            <a:avLst>
              <a:gd name="adj" fmla="val 4688"/>
            </a:avLst>
          </a:prstGeom>
          <a:solidFill>
            <a:srgbClr val="F4F6F8"/>
          </a:solidFill>
          <a:ln w="9525">
            <a:solidFill>
              <a:srgbClr val="DEDDD6"/>
            </a:solidFill>
            <a:prstDash val="solid"/>
          </a:ln>
        </p:spPr>
      </p:sp>
      <p:sp>
        <p:nvSpPr>
          <p:cNvPr id="10" name="Text 8"/>
          <p:cNvSpPr txBox="1"/>
          <p:nvPr/>
        </p:nvSpPr>
        <p:spPr>
          <a:xfrm>
            <a:off x="4338828" y="1929384"/>
            <a:ext cx="2930652" cy="27432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R2 / R3  Two-sided, leave-one-out</a:t>
            </a:r>
            <a:endParaRPr lang="en-US" sz="1300" dirty="0"/>
          </a:p>
        </p:txBody>
      </p:sp>
      <p:sp>
        <p:nvSpPr>
          <p:cNvPr id="11" name="Text 9"/>
          <p:cNvSpPr txBox="1"/>
          <p:nvPr/>
        </p:nvSpPr>
        <p:spPr>
          <a:xfrm>
            <a:off x="4338828" y="2240280"/>
            <a:ext cx="2930652" cy="548640"/>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A persona shown a lower price is a finding. The reference excludes the observation under test.</a:t>
            </a:r>
            <a:endParaRPr lang="en-US" sz="1200" dirty="0"/>
          </a:p>
        </p:txBody>
      </p:sp>
      <p:sp>
        <p:nvSpPr>
          <p:cNvPr id="12" name="Shape 10"/>
          <p:cNvSpPr/>
          <p:nvPr/>
        </p:nvSpPr>
        <p:spPr>
          <a:xfrm>
            <a:off x="566928" y="3081528"/>
            <a:ext cx="3332988" cy="1170432"/>
          </a:xfrm>
          <a:prstGeom prst="roundRect">
            <a:avLst>
              <a:gd name="adj" fmla="val 4688"/>
            </a:avLst>
          </a:prstGeom>
          <a:solidFill>
            <a:srgbClr val="F4F6F8"/>
          </a:solidFill>
          <a:ln w="9525">
            <a:solidFill>
              <a:srgbClr val="DEDDD6"/>
            </a:solidFill>
            <a:prstDash val="solid"/>
          </a:ln>
        </p:spPr>
      </p:sp>
      <p:sp>
        <p:nvSpPr>
          <p:cNvPr id="13" name="Text 11"/>
          <p:cNvSpPr txBox="1"/>
          <p:nvPr/>
        </p:nvSpPr>
        <p:spPr>
          <a:xfrm>
            <a:off x="768096" y="3227832"/>
            <a:ext cx="2930652" cy="27432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R5 / R6  Nothing vanishes</a:t>
            </a:r>
            <a:endParaRPr lang="en-US" sz="1300" dirty="0"/>
          </a:p>
        </p:txBody>
      </p:sp>
      <p:sp>
        <p:nvSpPr>
          <p:cNvPr id="14" name="Text 12"/>
          <p:cNvSpPr txBox="1"/>
          <p:nvPr/>
        </p:nvSpPr>
        <p:spPr>
          <a:xfrm>
            <a:off x="768096" y="3538728"/>
            <a:ext cx="2930652" cy="548640"/>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An incomplete cohort is a reported outcome, not a filter. Every page is checked for a bot challenge first.</a:t>
            </a:r>
            <a:endParaRPr lang="en-US" sz="1200" dirty="0"/>
          </a:p>
        </p:txBody>
      </p:sp>
      <p:sp>
        <p:nvSpPr>
          <p:cNvPr id="15" name="Shape 13"/>
          <p:cNvSpPr/>
          <p:nvPr/>
        </p:nvSpPr>
        <p:spPr>
          <a:xfrm>
            <a:off x="4137660" y="3081528"/>
            <a:ext cx="3332988" cy="1170432"/>
          </a:xfrm>
          <a:prstGeom prst="roundRect">
            <a:avLst>
              <a:gd name="adj" fmla="val 4688"/>
            </a:avLst>
          </a:prstGeom>
          <a:solidFill>
            <a:srgbClr val="F4F6F8"/>
          </a:solidFill>
          <a:ln w="9525">
            <a:solidFill>
              <a:srgbClr val="DEDDD6"/>
            </a:solidFill>
            <a:prstDash val="solid"/>
          </a:ln>
        </p:spPr>
      </p:sp>
      <p:sp>
        <p:nvSpPr>
          <p:cNvPr id="16" name="Text 14"/>
          <p:cNvSpPr txBox="1"/>
          <p:nvPr/>
        </p:nvSpPr>
        <p:spPr>
          <a:xfrm>
            <a:off x="4338828" y="3227832"/>
            <a:ext cx="2930652" cy="27432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R7  The parser refuses</a:t>
            </a:r>
            <a:endParaRPr lang="en-US" sz="1300" dirty="0"/>
          </a:p>
        </p:txBody>
      </p:sp>
      <p:sp>
        <p:nvSpPr>
          <p:cNvPr id="17" name="Text 15"/>
          <p:cNvSpPr txBox="1"/>
          <p:nvPr/>
        </p:nvSpPr>
        <p:spPr>
          <a:xfrm>
            <a:off x="4338828" y="3538728"/>
            <a:ext cx="2930652" cy="548640"/>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Separators resolved by locale, every candidate returned, ambiguity is a status — never a number.</a:t>
            </a:r>
            <a:endParaRPr lang="en-US" sz="1200" dirty="0"/>
          </a:p>
        </p:txBody>
      </p:sp>
      <p:sp>
        <p:nvSpPr>
          <p:cNvPr id="18" name="Shape 16"/>
          <p:cNvSpPr/>
          <p:nvPr/>
        </p:nvSpPr>
        <p:spPr>
          <a:xfrm>
            <a:off x="7818120" y="1783080"/>
            <a:ext cx="3803904" cy="3813048"/>
          </a:xfrm>
          <a:prstGeom prst="roundRect">
            <a:avLst>
              <a:gd name="adj" fmla="val 1442"/>
            </a:avLst>
          </a:prstGeom>
          <a:solidFill>
            <a:srgbClr val="F4F6F8"/>
          </a:solidFill>
          <a:ln w="9525">
            <a:solidFill>
              <a:srgbClr val="DEDDD6"/>
            </a:solidFill>
            <a:prstDash val="solid"/>
          </a:ln>
        </p:spPr>
      </p:sp>
      <p:sp>
        <p:nvSpPr>
          <p:cNvPr id="19" name="Text 17"/>
          <p:cNvSpPr txBox="1"/>
          <p:nvPr/>
        </p:nvSpPr>
        <p:spPr>
          <a:xfrm>
            <a:off x="8055864" y="1938528"/>
            <a:ext cx="3328416" cy="292608"/>
          </a:xfrm>
          <a:prstGeom prst="rect">
            <a:avLst/>
          </a:prstGeom>
          <a:noFill/>
          <a:ln/>
        </p:spPr>
        <p:txBody>
          <a:bodyPr wrap="square" lIns="0" tIns="0" rIns="0" bIns="0" rtlCol="0" anchor="ctr"/>
          <a:lstStyle/>
          <a:p>
            <a:pPr indent="0" marL="0">
              <a:buNone/>
            </a:pPr>
            <a:r>
              <a:rPr lang="en-US" sz="1300" b="1" dirty="0">
                <a:solidFill>
                  <a:srgbClr val="1BAF7A"/>
                </a:solidFill>
                <a:latin typeface="Calibri" pitchFamily="34" charset="0"/>
                <a:ea typeface="Calibri" pitchFamily="34" charset="-122"/>
                <a:cs typeface="Calibri" pitchFamily="34" charset="-120"/>
              </a:rPr>
              <a:t>Validation</a:t>
            </a:r>
            <a:endParaRPr lang="en-US" sz="1300" dirty="0"/>
          </a:p>
        </p:txBody>
      </p:sp>
      <p:sp>
        <p:nvSpPr>
          <p:cNvPr id="20" name="Text 18"/>
          <p:cNvSpPr txBox="1"/>
          <p:nvPr/>
        </p:nvSpPr>
        <p:spPr>
          <a:xfrm>
            <a:off x="8055864" y="2286000"/>
            <a:ext cx="3328416" cy="603504"/>
          </a:xfrm>
          <a:prstGeom prst="rect">
            <a:avLst/>
          </a:prstGeom>
          <a:noFill/>
          <a:ln/>
        </p:spPr>
        <p:txBody>
          <a:bodyPr wrap="square" lIns="0" tIns="0" rIns="0" bIns="0" rtlCol="0" anchor="ctr"/>
          <a:lstStyle/>
          <a:p>
            <a:pPr indent="0" marL="0">
              <a:buNone/>
            </a:pPr>
            <a:r>
              <a:rPr lang="en-US" sz="4000" b="1" dirty="0">
                <a:solidFill>
                  <a:srgbClr val="1BAF7A"/>
                </a:solidFill>
                <a:latin typeface="Cambria" pitchFamily="34" charset="0"/>
                <a:ea typeface="Cambria" pitchFamily="34" charset="-122"/>
                <a:cs typeface="Cambria" pitchFamily="34" charset="-120"/>
              </a:rPr>
              <a:t>11 / 11</a:t>
            </a:r>
            <a:endParaRPr lang="en-US" sz="4000" dirty="0"/>
          </a:p>
        </p:txBody>
      </p:sp>
      <p:sp>
        <p:nvSpPr>
          <p:cNvPr id="21" name="Text 19"/>
          <p:cNvSpPr txBox="1"/>
          <p:nvPr/>
        </p:nvSpPr>
        <p:spPr>
          <a:xfrm>
            <a:off x="8055864" y="2889504"/>
            <a:ext cx="3328416" cy="566928"/>
          </a:xfrm>
          <a:prstGeom prst="rect">
            <a:avLst/>
          </a:prstGeom>
          <a:noFill/>
          <a:ln/>
        </p:spPr>
        <p:txBody>
          <a:bodyPr wrap="square" lIns="0" tIns="0" rIns="0" bIns="0" rtlCol="0" anchor="t"/>
          <a:lstStyle/>
          <a:p>
            <a:pPr indent="0" marL="0">
              <a:lnSpc>
                <a:spcPct val="100000"/>
              </a:lnSpc>
              <a:buNone/>
            </a:pPr>
            <a:r>
              <a:rPr lang="en-US" sz="1150" dirty="0">
                <a:solidFill>
                  <a:srgbClr val="52514E"/>
                </a:solidFill>
                <a:latin typeface="Calibri" pitchFamily="34" charset="0"/>
                <a:ea typeface="Calibri" pitchFamily="34" charset="-122"/>
                <a:cs typeface="Calibri" pitchFamily="34" charset="-120"/>
              </a:rPr>
              <a:t>scenarios recovered — including reporting nothing where nothing was injected</a:t>
            </a:r>
            <a:endParaRPr lang="en-US" sz="1150" dirty="0"/>
          </a:p>
        </p:txBody>
      </p:sp>
      <p:sp>
        <p:nvSpPr>
          <p:cNvPr id="22" name="Text 20"/>
          <p:cNvSpPr txBox="1"/>
          <p:nvPr/>
        </p:nvSpPr>
        <p:spPr>
          <a:xfrm>
            <a:off x="8055864" y="3584448"/>
            <a:ext cx="3328416" cy="603504"/>
          </a:xfrm>
          <a:prstGeom prst="rect">
            <a:avLst/>
          </a:prstGeom>
          <a:noFill/>
          <a:ln/>
        </p:spPr>
        <p:txBody>
          <a:bodyPr wrap="square" lIns="0" tIns="0" rIns="0" bIns="0" rtlCol="0" anchor="ctr"/>
          <a:lstStyle/>
          <a:p>
            <a:pPr indent="0" marL="0">
              <a:buNone/>
            </a:pPr>
            <a:r>
              <a:rPr lang="en-US" sz="4000" b="1" dirty="0">
                <a:solidFill>
                  <a:srgbClr val="111517"/>
                </a:solidFill>
                <a:latin typeface="Cambria" pitchFamily="34" charset="0"/>
                <a:ea typeface="Cambria" pitchFamily="34" charset="-122"/>
                <a:cs typeface="Cambria" pitchFamily="34" charset="-120"/>
              </a:rPr>
              <a:t>156</a:t>
            </a:r>
            <a:endParaRPr lang="en-US" sz="4000" dirty="0"/>
          </a:p>
        </p:txBody>
      </p:sp>
      <p:sp>
        <p:nvSpPr>
          <p:cNvPr id="23" name="Text 21"/>
          <p:cNvSpPr txBox="1"/>
          <p:nvPr/>
        </p:nvSpPr>
        <p:spPr>
          <a:xfrm>
            <a:off x="8055864" y="4187952"/>
            <a:ext cx="3328416" cy="566928"/>
          </a:xfrm>
          <a:prstGeom prst="rect">
            <a:avLst/>
          </a:prstGeom>
          <a:noFill/>
          <a:ln/>
        </p:spPr>
        <p:txBody>
          <a:bodyPr wrap="square" lIns="0" tIns="0" rIns="0" bIns="0" rtlCol="0" anchor="t"/>
          <a:lstStyle/>
          <a:p>
            <a:pPr indent="0" marL="0">
              <a:lnSpc>
                <a:spcPct val="100000"/>
              </a:lnSpc>
              <a:buNone/>
            </a:pPr>
            <a:r>
              <a:rPr lang="en-US" sz="1150" dirty="0">
                <a:solidFill>
                  <a:srgbClr val="52514E"/>
                </a:solidFill>
                <a:latin typeface="Calibri" pitchFamily="34" charset="0"/>
                <a:ea typeface="Calibri" pitchFamily="34" charset="-122"/>
                <a:cs typeface="Calibri" pitchFamily="34" charset="-120"/>
              </a:rPr>
              <a:t>tests; the audit's failures are regression tests</a:t>
            </a:r>
            <a:endParaRPr lang="en-US" sz="1150" dirty="0"/>
          </a:p>
        </p:txBody>
      </p:sp>
      <p:sp>
        <p:nvSpPr>
          <p:cNvPr id="24" name="Text 22"/>
          <p:cNvSpPr txBox="1"/>
          <p:nvPr/>
        </p:nvSpPr>
        <p:spPr>
          <a:xfrm>
            <a:off x="8055864" y="4846320"/>
            <a:ext cx="3328416" cy="658368"/>
          </a:xfrm>
          <a:prstGeom prst="rect">
            <a:avLst/>
          </a:prstGeom>
          <a:noFill/>
          <a:ln/>
        </p:spPr>
        <p:txBody>
          <a:bodyPr wrap="square" lIns="0" tIns="0" rIns="0" bIns="0" rtlCol="0" anchor="t"/>
          <a:lstStyle/>
          <a:p>
            <a:pPr indent="0" marL="0">
              <a:buNone/>
            </a:pPr>
            <a:r>
              <a:rPr lang="en-US" sz="1100" i="1" dirty="0">
                <a:solidFill>
                  <a:srgbClr val="52514E"/>
                </a:solidFill>
                <a:latin typeface="Calibri" pitchFamily="34" charset="0"/>
                <a:ea typeface="Calibri" pitchFamily="34" charset="-122"/>
                <a:cs typeface="Calibri" pitchFamily="34" charset="-120"/>
              </a:rPr>
              <a:t>A mid-sweep price step must fail the control-stability gate, not read as discrimination. That is the direct regression test for the fatal flaw.</a:t>
            </a:r>
            <a:endParaRPr lang="en-US" sz="1100" dirty="0"/>
          </a:p>
        </p:txBody>
      </p:sp>
      <p:sp>
        <p:nvSpPr>
          <p:cNvPr id="25" name="Text 23"/>
          <p:cNvSpPr txBox="1"/>
          <p:nvPr/>
        </p:nvSpPr>
        <p:spPr>
          <a:xfrm>
            <a:off x="566928" y="6327648"/>
            <a:ext cx="11055096" cy="274320"/>
          </a:xfrm>
          <a:prstGeom prst="rect">
            <a:avLst/>
          </a:prstGeom>
          <a:noFill/>
          <a:ln/>
        </p:spPr>
        <p:txBody>
          <a:bodyPr wrap="square" lIns="0" tIns="0" rIns="0" bIns="0" rtlCol="0" anchor="ctr"/>
          <a:lstStyle/>
          <a:p>
            <a:pPr indent="0" marL="0">
              <a:buNone/>
            </a:pPr>
            <a:r>
              <a:rPr lang="en-US" sz="950" dirty="0">
                <a:solidFill>
                  <a:srgbClr val="8A8985"/>
                </a:solidFill>
                <a:latin typeface="Calibri" pitchFamily="34" charset="0"/>
                <a:ea typeface="Calibri" pitchFamily="34" charset="-122"/>
                <a:cs typeface="Calibri" pitchFamily="34" charset="-120"/>
              </a:rPr>
              <a:t>Scenarios: no effect · device / geo / history premium · targeted discount · interaction · locale currency · strike-through · mid-sweep step · bot page · A/B buckets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2A78D6"/>
          </a:solidFill>
          <a:ln w="12700">
            <a:solidFill>
              <a:srgbClr val="2A78D6"/>
            </a:solidFill>
            <a:prstDash val="solid"/>
          </a:ln>
        </p:spPr>
      </p:sp>
      <p:sp>
        <p:nvSpPr>
          <p:cNvPr id="3" name="Text 1"/>
          <p:cNvSpPr txBox="1"/>
          <p:nvPr/>
        </p:nvSpPr>
        <p:spPr>
          <a:xfrm>
            <a:off x="566928"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 name="Text 2"/>
          <p:cNvSpPr txBox="1"/>
          <p:nvPr/>
        </p:nvSpPr>
        <p:spPr>
          <a:xfrm>
            <a:off x="1133856" y="329184"/>
            <a:ext cx="10488168" cy="512064"/>
          </a:xfrm>
          <a:prstGeom prst="rect">
            <a:avLst/>
          </a:prstGeom>
          <a:noFill/>
          <a:ln/>
        </p:spPr>
        <p:txBody>
          <a:bodyPr wrap="square" lIns="0" tIns="0" rIns="0" bIns="0" rtlCol="0" anchor="ctr"/>
          <a:lstStyle/>
          <a:p>
            <a:pPr indent="0" marL="0">
              <a:buNone/>
            </a:pPr>
            <a:r>
              <a:rPr lang="en-US" sz="3000" b="1" dirty="0">
                <a:solidFill>
                  <a:srgbClr val="111517"/>
                </a:solidFill>
                <a:latin typeface="Cambria" pitchFamily="34" charset="0"/>
                <a:ea typeface="Cambria" pitchFamily="34" charset="-122"/>
                <a:cs typeface="Cambria" pitchFamily="34" charset="-120"/>
              </a:rPr>
              <a:t>Seven designs, one feature apart</a:t>
            </a:r>
            <a:endParaRPr lang="en-US" sz="3000" dirty="0"/>
          </a:p>
        </p:txBody>
      </p:sp>
      <p:sp>
        <p:nvSpPr>
          <p:cNvPr id="5" name="Text 3"/>
          <p:cNvSpPr txBox="1"/>
          <p:nvPr/>
        </p:nvSpPr>
        <p:spPr>
          <a:xfrm>
            <a:off x="1133856" y="877824"/>
            <a:ext cx="10488168" cy="384048"/>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To attribute an error rate to a design feature, change one thing at a time — from the prototype as audited (D0) to the corrected instrument (D6).</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5096" cy="914400"/>
        </p:xfrm>
        <a:graphic>
          <a:graphicData uri="http://schemas.openxmlformats.org/drawingml/2006/table">
            <a:tbl>
              <a:tblPr/>
              <a:tblGrid>
                <a:gridCol w="1965960"/>
                <a:gridCol w="1627632"/>
                <a:gridCol w="1463040"/>
                <a:gridCol w="1700784"/>
                <a:gridCol w="1517904"/>
                <a:gridCol w="1810512"/>
                <a:gridCol w="969264"/>
              </a:tblGrid>
              <a:tr h="347472">
                <a:tc>
                  <a:txBody>
                    <a:bodyPr/>
                    <a:lstStyle/>
                    <a:p>
                      <a:pPr algn="ctr" indent="0" marL="0">
                        <a:buNone/>
                      </a:pPr>
                      <a:r>
                        <a:rPr lang="en-US" sz="1150" b="1" dirty="0">
                          <a:solidFill>
                            <a:srgbClr val="52514E"/>
                          </a:solidFill>
                          <a:latin typeface="Calibri" pitchFamily="34" charset="0"/>
                          <a:ea typeface="Calibri" pitchFamily="34" charset="-122"/>
                          <a:cs typeface="Calibri" pitchFamily="34" charset="-120"/>
                        </a:rPr>
                        <a:t>Design</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52514E"/>
                          </a:solidFill>
                          <a:latin typeface="Calibri" pitchFamily="34" charset="0"/>
                          <a:ea typeface="Calibri" pitchFamily="34" charset="-122"/>
                          <a:cs typeface="Calibri" pitchFamily="34" charset="-120"/>
                        </a:rPr>
                        <a:t>Within-sweep</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52514E"/>
                          </a:solidFill>
                          <a:latin typeface="Calibri" pitchFamily="34" charset="0"/>
                          <a:ea typeface="Calibri" pitchFamily="34" charset="-122"/>
                          <a:cs typeface="Calibri" pitchFamily="34" charset="-120"/>
                        </a:rPr>
                        <a:t>Two-sided</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52514E"/>
                          </a:solidFill>
                          <a:latin typeface="Calibri" pitchFamily="34" charset="0"/>
                          <a:ea typeface="Calibri" pitchFamily="34" charset="-122"/>
                          <a:cs typeface="Calibri" pitchFamily="34" charset="-120"/>
                        </a:rPr>
                        <a:t>Leave-one-out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52514E"/>
                          </a:solidFill>
                          <a:latin typeface="Calibri" pitchFamily="34" charset="0"/>
                          <a:ea typeface="Calibri" pitchFamily="34" charset="-122"/>
                          <a:cs typeface="Calibri" pitchFamily="34" charset="-120"/>
                        </a:rPr>
                        <a:t>Control arm</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52514E"/>
                          </a:solidFill>
                          <a:latin typeface="Calibri" pitchFamily="34" charset="0"/>
                          <a:ea typeface="Calibri" pitchFamily="34" charset="-122"/>
                          <a:cs typeface="Calibri" pitchFamily="34" charset="-120"/>
                        </a:rPr>
                        <a:t>Replicates + G4</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52514E"/>
                          </a:solidFill>
                          <a:latin typeface="Calibri" pitchFamily="34" charset="0"/>
                          <a:ea typeface="Calibri" pitchFamily="34" charset="-122"/>
                          <a:cs typeface="Calibri" pitchFamily="34" charset="-120"/>
                        </a:rPr>
                        <a:t>Robust parser</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47472">
                <a:tc>
                  <a:txBody>
                    <a:bodyPr/>
                    <a:lstStyle/>
                    <a:p>
                      <a:pPr algn="ctr" indent="0" marL="0">
                        <a:buNone/>
                      </a:pPr>
                      <a:r>
                        <a:rPr lang="en-US" sz="1150" b="1" dirty="0">
                          <a:solidFill>
                            <a:srgbClr val="EB6834"/>
                          </a:solidFill>
                          <a:latin typeface="Calibri" pitchFamily="34" charset="0"/>
                          <a:ea typeface="Calibri" pitchFamily="34" charset="-122"/>
                          <a:cs typeface="Calibri" pitchFamily="34" charset="-120"/>
                        </a:rPr>
                        <a:t>D0   prototype</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47472">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D1</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47472">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D2</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47472">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D3</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47472">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D4</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47472">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D5</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r h="347472">
                <a:tc>
                  <a:txBody>
                    <a:bodyPr/>
                    <a:lstStyle/>
                    <a:p>
                      <a:pPr algn="ctr" indent="0" marL="0">
                        <a:buNone/>
                      </a:pPr>
                      <a:r>
                        <a:rPr lang="en-US" sz="1150" b="1" dirty="0">
                          <a:solidFill>
                            <a:srgbClr val="2A78D6"/>
                          </a:solidFill>
                          <a:latin typeface="Calibri" pitchFamily="34" charset="0"/>
                          <a:ea typeface="Calibri" pitchFamily="34" charset="-122"/>
                          <a:cs typeface="Calibri" pitchFamily="34" charset="-120"/>
                        </a:rPr>
                        <a:t>D6   corrected</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2514E"/>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54864" marR="54864" marT="54864" marB="54864" anchor="ctr">
                    <a:lnL w="6350" cap="flat" cmpd="sng" algn="ctr">
                      <a:solidFill>
                        <a:srgbClr val="DEDDD6"/>
                      </a:solidFill>
                      <a:prstDash val="solid"/>
                      <a:round/>
                      <a:headEnd type="none" w="med" len="med"/>
                      <a:tailEnd type="none" w="med" len="med"/>
                    </a:lnL>
                    <a:lnR w="6350" cap="flat" cmpd="sng" algn="ctr">
                      <a:solidFill>
                        <a:srgbClr val="DEDDD6"/>
                      </a:solidFill>
                      <a:prstDash val="solid"/>
                      <a:round/>
                      <a:headEnd type="none" w="med" len="med"/>
                      <a:tailEnd type="none" w="med" len="med"/>
                    </a:lnR>
                    <a:lnT w="6350" cap="flat" cmpd="sng" algn="ctr">
                      <a:solidFill>
                        <a:srgbClr val="DEDDD6"/>
                      </a:solidFill>
                      <a:prstDash val="solid"/>
                      <a:round/>
                      <a:headEnd type="none" w="med" len="med"/>
                      <a:tailEnd type="none" w="med" len="med"/>
                    </a:lnT>
                    <a:lnB w="6350" cap="flat" cmpd="sng" algn="ctr">
                      <a:solidFill>
                        <a:srgbClr val="DEDDD6"/>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4626864"/>
            <a:ext cx="5399532" cy="1408176"/>
          </a:xfrm>
          <a:prstGeom prst="roundRect">
            <a:avLst>
              <a:gd name="adj" fmla="val 3896"/>
            </a:avLst>
          </a:prstGeom>
          <a:solidFill>
            <a:srgbClr val="F4F6F8"/>
          </a:solidFill>
          <a:ln w="9525">
            <a:solidFill>
              <a:srgbClr val="DEDDD6"/>
            </a:solidFill>
            <a:prstDash val="solid"/>
          </a:ln>
        </p:spPr>
      </p:sp>
      <p:sp>
        <p:nvSpPr>
          <p:cNvPr id="8" name="Text 5"/>
          <p:cNvSpPr txBox="1"/>
          <p:nvPr/>
        </p:nvSpPr>
        <p:spPr>
          <a:xfrm>
            <a:off x="768096" y="4773168"/>
            <a:ext cx="4997196" cy="274320"/>
          </a:xfrm>
          <a:prstGeom prst="rect">
            <a:avLst/>
          </a:prstGeom>
          <a:noFill/>
          <a:ln/>
        </p:spPr>
        <p:txBody>
          <a:bodyPr wrap="square" lIns="0" tIns="0" rIns="0" bIns="0" rtlCol="0" anchor="ctr"/>
          <a:lstStyle/>
          <a:p>
            <a:pPr indent="0" marL="0">
              <a:buNone/>
            </a:pPr>
            <a:r>
              <a:rPr lang="en-US" sz="1300" b="1" dirty="0">
                <a:solidFill>
                  <a:srgbClr val="111517"/>
                </a:solidFill>
                <a:latin typeface="Calibri" pitchFamily="34" charset="0"/>
                <a:ea typeface="Calibri" pitchFamily="34" charset="-122"/>
                <a:cs typeface="Calibri" pitchFamily="34" charset="-120"/>
              </a:rPr>
              <a:t>Two ordering decisions, made during implementation</a:t>
            </a:r>
            <a:endParaRPr lang="en-US" sz="1300" dirty="0"/>
          </a:p>
        </p:txBody>
      </p:sp>
      <p:sp>
        <p:nvSpPr>
          <p:cNvPr id="9" name="Text 6"/>
          <p:cNvSpPr txBox="1"/>
          <p:nvPr/>
        </p:nvSpPr>
        <p:spPr>
          <a:xfrm>
            <a:off x="768096" y="5084064"/>
            <a:ext cx="4997196" cy="786384"/>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Leave-one-out precedes the control arm: once a control is the reference, the leave-one-out step is vacuous and its contribution cannot be measured. The parser is a separate final step — parse quality is orthogonal to statistical design.</a:t>
            </a:r>
            <a:endParaRPr lang="en-US" sz="1200" dirty="0"/>
          </a:p>
        </p:txBody>
      </p:sp>
      <p:sp>
        <p:nvSpPr>
          <p:cNvPr id="10" name="Shape 7"/>
          <p:cNvSpPr/>
          <p:nvPr/>
        </p:nvSpPr>
        <p:spPr>
          <a:xfrm>
            <a:off x="6222492" y="4626864"/>
            <a:ext cx="5399532" cy="1408176"/>
          </a:xfrm>
          <a:prstGeom prst="roundRect">
            <a:avLst>
              <a:gd name="adj" fmla="val 3896"/>
            </a:avLst>
          </a:prstGeom>
          <a:solidFill>
            <a:srgbClr val="F4F6F8"/>
          </a:solidFill>
          <a:ln w="9525">
            <a:solidFill>
              <a:srgbClr val="DEDDD6"/>
            </a:solidFill>
            <a:prstDash val="solid"/>
          </a:ln>
        </p:spPr>
      </p:sp>
      <p:sp>
        <p:nvSpPr>
          <p:cNvPr id="11" name="Text 8"/>
          <p:cNvSpPr txBox="1"/>
          <p:nvPr/>
        </p:nvSpPr>
        <p:spPr>
          <a:xfrm>
            <a:off x="6423660" y="4773168"/>
            <a:ext cx="4997196" cy="274320"/>
          </a:xfrm>
          <a:prstGeom prst="rect">
            <a:avLst/>
          </a:prstGeom>
          <a:noFill/>
          <a:ln/>
        </p:spPr>
        <p:txBody>
          <a:bodyPr wrap="square" lIns="0" tIns="0" rIns="0" bIns="0" rtlCol="0" anchor="ctr"/>
          <a:lstStyle/>
          <a:p>
            <a:pPr indent="0" marL="0">
              <a:buNone/>
            </a:pPr>
            <a:r>
              <a:rPr lang="en-US" sz="1300" b="1" dirty="0">
                <a:solidFill>
                  <a:srgbClr val="111517"/>
                </a:solidFill>
                <a:latin typeface="Calibri" pitchFamily="34" charset="0"/>
                <a:ea typeface="Calibri" pitchFamily="34" charset="-122"/>
                <a:cs typeface="Calibri" pitchFamily="34" charset="-120"/>
              </a:rPr>
              <a:t>What “replicates + G4” bundles</a:t>
            </a:r>
            <a:endParaRPr lang="en-US" sz="1300" dirty="0"/>
          </a:p>
        </p:txBody>
      </p:sp>
      <p:sp>
        <p:nvSpPr>
          <p:cNvPr id="12" name="Text 9"/>
          <p:cNvSpPr txBox="1"/>
          <p:nvPr/>
        </p:nvSpPr>
        <p:spPr>
          <a:xfrm>
            <a:off x="6423660" y="5084064"/>
            <a:ext cx="4997196" cy="786384"/>
          </a:xfrm>
          <a:prstGeom prst="rect">
            <a:avLst/>
          </a:prstGeom>
          <a:noFill/>
          <a:ln/>
        </p:spPr>
        <p:txBody>
          <a:bodyPr wrap="square" lIns="0" tIns="0" rIns="0" bIns="0" rtlCol="0" anchor="t"/>
          <a:lstStyle/>
          <a:p>
            <a:pPr indent="0" marL="0">
              <a:lnSpc>
                <a:spcPct val="105000"/>
              </a:lnSpc>
              <a:buNone/>
            </a:pPr>
            <a:r>
              <a:rPr lang="en-US" sz="1200" dirty="0">
                <a:solidFill>
                  <a:srgbClr val="52514E"/>
                </a:solidFill>
                <a:latin typeface="Calibri" pitchFamily="34" charset="0"/>
                <a:ea typeface="Calibri" pitchFamily="34" charset="-122"/>
                <a:cs typeface="Calibri" pitchFamily="34" charset="-120"/>
              </a:rPr>
              <a:t>Three things that only exist together: more than one observation per cell, the control-stability gate that needs them, and the rule that an incomplete cohort abstains. D0–D4 observe each cell once and drop failures silently, as the prototype did.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2A78D6"/>
          </a:solidFill>
          <a:ln w="12700">
            <a:solidFill>
              <a:srgbClr val="2A78D6"/>
            </a:solidFill>
            <a:prstDash val="solid"/>
          </a:ln>
        </p:spPr>
      </p:sp>
      <p:sp>
        <p:nvSpPr>
          <p:cNvPr id="3" name="Text 1"/>
          <p:cNvSpPr txBox="1"/>
          <p:nvPr/>
        </p:nvSpPr>
        <p:spPr>
          <a:xfrm>
            <a:off x="566928"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 name="Text 2"/>
          <p:cNvSpPr txBox="1"/>
          <p:nvPr/>
        </p:nvSpPr>
        <p:spPr>
          <a:xfrm>
            <a:off x="1133856" y="329184"/>
            <a:ext cx="10488168" cy="512064"/>
          </a:xfrm>
          <a:prstGeom prst="rect">
            <a:avLst/>
          </a:prstGeom>
          <a:noFill/>
          <a:ln/>
        </p:spPr>
        <p:txBody>
          <a:bodyPr wrap="square" lIns="0" tIns="0" rIns="0" bIns="0" rtlCol="0" anchor="ctr"/>
          <a:lstStyle/>
          <a:p>
            <a:pPr indent="0" marL="0">
              <a:buNone/>
            </a:pPr>
            <a:r>
              <a:rPr lang="en-US" sz="3000" b="1" dirty="0">
                <a:solidFill>
                  <a:srgbClr val="111517"/>
                </a:solidFill>
                <a:latin typeface="Cambria" pitchFamily="34" charset="0"/>
                <a:ea typeface="Cambria" pitchFamily="34" charset="-122"/>
                <a:cs typeface="Cambria" pitchFamily="34" charset="-120"/>
              </a:rPr>
              <a:t>What the designs actually do</a:t>
            </a:r>
            <a:endParaRPr lang="en-US" sz="3000" dirty="0"/>
          </a:p>
        </p:txBody>
      </p:sp>
      <p:sp>
        <p:nvSpPr>
          <p:cNvPr id="5" name="Text 3"/>
          <p:cNvSpPr txBox="1"/>
          <p:nvPr/>
        </p:nvSpPr>
        <p:spPr>
          <a:xfrm>
            <a:off x="1133856" y="877824"/>
            <a:ext cx="10488168" cy="384048"/>
          </a:xfrm>
          <a:prstGeom prst="rect">
            <a:avLst/>
          </a:prstGeom>
          <a:noFill/>
          <a:ln/>
        </p:spPr>
        <p:txBody>
          <a:bodyPr wrap="square" lIns="0" tIns="0" rIns="0" bIns="0" rtlCol="0" anchor="t"/>
          <a:lstStyle/>
          <a:p>
            <a:pPr indent="0" marL="0">
              <a:buNone/>
            </a:pPr>
            <a:r>
              <a:rPr lang="en-US" sz="1400" dirty="0">
                <a:solidFill>
                  <a:srgbClr val="52514E"/>
                </a:solidFill>
                <a:latin typeface="Calibri" pitchFamily="34" charset="0"/>
                <a:ea typeface="Calibri" pitchFamily="34" charset="-122"/>
                <a:cs typeface="Calibri" pitchFamily="34" charset="-120"/>
              </a:rPr>
              <a:t>200 Monte Carlo panels per condition, 20 products × 5 sweeps each, ground truth known by construction.</a:t>
            </a:r>
            <a:endParaRPr lang="en-US" sz="1400" dirty="0"/>
          </a:p>
        </p:txBody>
      </p:sp>
      <p:graphicFrame>
        <p:nvGraphicFramePr>
          <p:cNvPr id="6" name="Chart 0" descr=""/>
          <p:cNvGraphicFramePr/>
          <p:nvPr/>
        </p:nvGraphicFramePr>
        <p:xfrm>
          <a:off x="566928" y="1755648"/>
          <a:ext cx="7452360" cy="3877056"/>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66928" y="5669280"/>
            <a:ext cx="7452360" cy="475488"/>
          </a:xfrm>
          <a:prstGeom prst="rect">
            <a:avLst/>
          </a:prstGeom>
          <a:noFill/>
          <a:ln/>
        </p:spPr>
        <p:txBody>
          <a:bodyPr wrap="square" lIns="0" tIns="0" rIns="0" bIns="0" rtlCol="0" anchor="t"/>
          <a:lstStyle/>
          <a:p>
            <a:pPr indent="0" marL="0">
              <a:buNone/>
            </a:pPr>
            <a:r>
              <a:rPr lang="en-US" sz="1050" i="1" dirty="0">
                <a:solidFill>
                  <a:srgbClr val="52514E"/>
                </a:solidFill>
                <a:latin typeface="Calibri" pitchFamily="34" charset="0"/>
                <a:ea typeface="Calibri" pitchFamily="34" charset="-122"/>
                <a:cs typeface="Calibri" pitchFamily="34" charset="-120"/>
              </a:rPr>
              <a:t>D5 and D6 show zero because they abstain on every stepped cohort — the control persona, sampled first and last in each sweep, straddles the step and fails gate G4.</a:t>
            </a:r>
            <a:endParaRPr lang="en-US" sz="1050" dirty="0"/>
          </a:p>
        </p:txBody>
      </p:sp>
      <p:sp>
        <p:nvSpPr>
          <p:cNvPr id="8" name="Shape 5"/>
          <p:cNvSpPr/>
          <p:nvPr/>
        </p:nvSpPr>
        <p:spPr>
          <a:xfrm>
            <a:off x="8156448" y="1755648"/>
            <a:ext cx="3547872" cy="3877056"/>
          </a:xfrm>
          <a:prstGeom prst="roundRect">
            <a:avLst>
              <a:gd name="adj" fmla="val 1546"/>
            </a:avLst>
          </a:prstGeom>
          <a:solidFill>
            <a:srgbClr val="F4F6F8"/>
          </a:solidFill>
          <a:ln w="9525">
            <a:solidFill>
              <a:srgbClr val="DEDDD6"/>
            </a:solidFill>
            <a:prstDash val="solid"/>
          </a:ln>
        </p:spPr>
      </p:sp>
      <p:sp>
        <p:nvSpPr>
          <p:cNvPr id="9" name="Text 6"/>
          <p:cNvSpPr txBox="1"/>
          <p:nvPr/>
        </p:nvSpPr>
        <p:spPr>
          <a:xfrm>
            <a:off x="8394192" y="1920240"/>
            <a:ext cx="3291840" cy="603504"/>
          </a:xfrm>
          <a:prstGeom prst="rect">
            <a:avLst/>
          </a:prstGeom>
          <a:noFill/>
          <a:ln/>
        </p:spPr>
        <p:txBody>
          <a:bodyPr wrap="square" lIns="0" tIns="0" rIns="0" bIns="0" rtlCol="0" anchor="ctr"/>
          <a:lstStyle/>
          <a:p>
            <a:pPr indent="0" marL="0">
              <a:buNone/>
            </a:pPr>
            <a:r>
              <a:rPr lang="en-US" sz="3400" b="1" dirty="0">
                <a:solidFill>
                  <a:srgbClr val="EB6834"/>
                </a:solidFill>
                <a:latin typeface="Cambria" pitchFamily="34" charset="0"/>
                <a:ea typeface="Cambria" pitchFamily="34" charset="-122"/>
                <a:cs typeface="Cambria" pitchFamily="34" charset="-120"/>
              </a:rPr>
              <a:t>50.7%</a:t>
            </a:r>
            <a:endParaRPr lang="en-US" sz="3400" dirty="0"/>
          </a:p>
        </p:txBody>
      </p:sp>
      <p:sp>
        <p:nvSpPr>
          <p:cNvPr id="10" name="Text 7"/>
          <p:cNvSpPr txBox="1"/>
          <p:nvPr/>
        </p:nvSpPr>
        <p:spPr>
          <a:xfrm>
            <a:off x="8394192" y="2523744"/>
            <a:ext cx="3291840" cy="566928"/>
          </a:xfrm>
          <a:prstGeom prst="rect">
            <a:avLst/>
          </a:prstGeom>
          <a:noFill/>
          <a:ln/>
        </p:spPr>
        <p:txBody>
          <a:bodyPr wrap="square" lIns="0" tIns="0" rIns="0" bIns="0" rtlCol="0" anchor="t"/>
          <a:lstStyle/>
          <a:p>
            <a:pPr indent="0" marL="0">
              <a:lnSpc>
                <a:spcPct val="100000"/>
              </a:lnSpc>
              <a:buNone/>
            </a:pPr>
            <a:r>
              <a:rPr lang="en-US" sz="1150" dirty="0">
                <a:solidFill>
                  <a:srgbClr val="52514E"/>
                </a:solidFill>
                <a:latin typeface="Calibri" pitchFamily="34" charset="0"/>
                <a:ea typeface="Calibri" pitchFamily="34" charset="-122"/>
                <a:cs typeface="Calibri" pitchFamily="34" charset="-120"/>
              </a:rPr>
              <a:t>power left in every single-observation design when the target persona is blocked half the time — with the abstain rate pinned at zero. The loss is invisible in its own output.</a:t>
            </a:r>
            <a:endParaRPr lang="en-US" sz="1150" dirty="0"/>
          </a:p>
        </p:txBody>
      </p:sp>
      <p:sp>
        <p:nvSpPr>
          <p:cNvPr id="11" name="Text 8"/>
          <p:cNvSpPr txBox="1"/>
          <p:nvPr/>
        </p:nvSpPr>
        <p:spPr>
          <a:xfrm>
            <a:off x="8394192" y="3364992"/>
            <a:ext cx="3291840" cy="603504"/>
          </a:xfrm>
          <a:prstGeom prst="rect">
            <a:avLst/>
          </a:prstGeom>
          <a:noFill/>
          <a:ln/>
        </p:spPr>
        <p:txBody>
          <a:bodyPr wrap="square" lIns="0" tIns="0" rIns="0" bIns="0" rtlCol="0" anchor="ctr"/>
          <a:lstStyle/>
          <a:p>
            <a:pPr indent="0" marL="0">
              <a:buNone/>
            </a:pPr>
            <a:r>
              <a:rPr lang="en-US" sz="2700" b="1" dirty="0">
                <a:solidFill>
                  <a:srgbClr val="2A78D6"/>
                </a:solidFill>
                <a:latin typeface="Cambria" pitchFamily="34" charset="0"/>
                <a:ea typeface="Cambria" pitchFamily="34" charset="-122"/>
                <a:cs typeface="Cambria" pitchFamily="34" charset="-120"/>
              </a:rPr>
              <a:t>34% → 98%</a:t>
            </a:r>
            <a:endParaRPr lang="en-US" sz="2700" dirty="0"/>
          </a:p>
        </p:txBody>
      </p:sp>
      <p:sp>
        <p:nvSpPr>
          <p:cNvPr id="12" name="Text 9"/>
          <p:cNvSpPr txBox="1"/>
          <p:nvPr/>
        </p:nvSpPr>
        <p:spPr>
          <a:xfrm>
            <a:off x="8394192" y="3968496"/>
            <a:ext cx="3291840" cy="566928"/>
          </a:xfrm>
          <a:prstGeom prst="rect">
            <a:avLst/>
          </a:prstGeom>
          <a:noFill/>
          <a:ln/>
        </p:spPr>
        <p:txBody>
          <a:bodyPr wrap="square" lIns="0" tIns="0" rIns="0" bIns="0" rtlCol="0" anchor="t"/>
          <a:lstStyle/>
          <a:p>
            <a:pPr indent="0" marL="0">
              <a:lnSpc>
                <a:spcPct val="100000"/>
              </a:lnSpc>
              <a:buNone/>
            </a:pPr>
            <a:r>
              <a:rPr lang="en-US" sz="1150" dirty="0">
                <a:solidFill>
                  <a:srgbClr val="52514E"/>
                </a:solidFill>
                <a:latin typeface="Calibri" pitchFamily="34" charset="0"/>
                <a:ea typeface="Calibri" pitchFamily="34" charset="-122"/>
                <a:cs typeface="Calibri" pitchFamily="34" charset="-120"/>
              </a:rPr>
              <a:t>mechanism-classification accuracy from k = 2 (one duplicated control, established practice) to k = 5 replicates per cell.</a:t>
            </a:r>
            <a:endParaRPr lang="en-US" sz="1150" dirty="0"/>
          </a:p>
        </p:txBody>
      </p:sp>
      <p:sp>
        <p:nvSpPr>
          <p:cNvPr id="13" name="Text 10"/>
          <p:cNvSpPr txBox="1"/>
          <p:nvPr/>
        </p:nvSpPr>
        <p:spPr>
          <a:xfrm>
            <a:off x="8394192" y="4626864"/>
            <a:ext cx="3291840" cy="603504"/>
          </a:xfrm>
          <a:prstGeom prst="rect">
            <a:avLst/>
          </a:prstGeom>
          <a:noFill/>
          <a:ln/>
        </p:spPr>
        <p:txBody>
          <a:bodyPr wrap="square" lIns="0" tIns="0" rIns="0" bIns="0" rtlCol="0" anchor="ctr"/>
          <a:lstStyle/>
          <a:p>
            <a:pPr indent="0" marL="0">
              <a:buNone/>
            </a:pPr>
            <a:r>
              <a:rPr lang="en-US" sz="3400" b="1" dirty="0">
                <a:solidFill>
                  <a:srgbClr val="1BAF7A"/>
                </a:solidFill>
                <a:latin typeface="Cambria" pitchFamily="34" charset="0"/>
                <a:ea typeface="Cambria" pitchFamily="34" charset="-122"/>
                <a:cs typeface="Cambria" pitchFamily="34" charset="-120"/>
              </a:rPr>
              <a:t>1.2%</a:t>
            </a:r>
            <a:endParaRPr lang="en-US" sz="3400" dirty="0"/>
          </a:p>
        </p:txBody>
      </p:sp>
      <p:sp>
        <p:nvSpPr>
          <p:cNvPr id="14" name="Text 11"/>
          <p:cNvSpPr txBox="1"/>
          <p:nvPr/>
        </p:nvSpPr>
        <p:spPr>
          <a:xfrm>
            <a:off x="8394192" y="5230368"/>
            <a:ext cx="3291840" cy="566928"/>
          </a:xfrm>
          <a:prstGeom prst="rect">
            <a:avLst/>
          </a:prstGeom>
          <a:noFill/>
          <a:ln/>
        </p:spPr>
        <p:txBody>
          <a:bodyPr wrap="square" lIns="0" tIns="0" rIns="0" bIns="0" rtlCol="0" anchor="t"/>
          <a:lstStyle/>
          <a:p>
            <a:pPr indent="0" marL="0">
              <a:lnSpc>
                <a:spcPct val="100000"/>
              </a:lnSpc>
              <a:buNone/>
            </a:pPr>
            <a:r>
              <a:rPr lang="en-US" sz="1150" dirty="0">
                <a:solidFill>
                  <a:srgbClr val="52514E"/>
                </a:solidFill>
                <a:latin typeface="Calibri" pitchFamily="34" charset="0"/>
                <a:ea typeface="Calibri" pitchFamily="34" charset="-122"/>
                <a:cs typeface="Calibri" pitchFamily="34" charset="-120"/>
              </a:rPr>
              <a:t>the cost: cohorts the control-stability gate abstains on when nothing is wrong.</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426"/>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2A78D6"/>
          </a:solidFill>
          <a:ln w="12700">
            <a:solidFill>
              <a:srgbClr val="2A78D6"/>
            </a:solidFill>
            <a:prstDash val="solid"/>
          </a:ln>
        </p:spPr>
      </p:sp>
      <p:sp>
        <p:nvSpPr>
          <p:cNvPr id="3" name="Text 1"/>
          <p:cNvSpPr txBox="1"/>
          <p:nvPr/>
        </p:nvSpPr>
        <p:spPr>
          <a:xfrm>
            <a:off x="566928" y="384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 name="Text 2"/>
          <p:cNvSpPr txBox="1"/>
          <p:nvPr/>
        </p:nvSpPr>
        <p:spPr>
          <a:xfrm>
            <a:off x="1133856" y="329184"/>
            <a:ext cx="10488168" cy="512064"/>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it comes to</a:t>
            </a:r>
            <a:endParaRPr lang="en-US" sz="3000" dirty="0"/>
          </a:p>
        </p:txBody>
      </p:sp>
      <p:sp>
        <p:nvSpPr>
          <p:cNvPr id="5" name="Text 3"/>
          <p:cNvSpPr txBox="1"/>
          <p:nvPr/>
        </p:nvSpPr>
        <p:spPr>
          <a:xfrm>
            <a:off x="566928" y="1170432"/>
            <a:ext cx="5390388" cy="3200400"/>
          </a:xfrm>
          <a:prstGeom prst="rect">
            <a:avLst/>
          </a:prstGeom>
          <a:noFill/>
          <a:ln/>
        </p:spPr>
        <p:txBody>
          <a:bodyPr wrap="square" lIns="0" tIns="0" rIns="0" bIns="0" rtlCol="0" anchor="t"/>
          <a:lstStyle/>
          <a:p>
            <a:pPr indent="0" marL="0">
              <a:lnSpc>
                <a:spcPct val="106000"/>
              </a:lnSpc>
              <a:buNone/>
            </a:pPr>
            <a:r>
              <a:rPr lang="en-US" sz="1250" b="1" dirty="0">
                <a:solidFill>
                  <a:srgbClr val="FFFFFF"/>
                </a:solidFill>
                <a:latin typeface="Calibri" pitchFamily="34" charset="0"/>
                <a:ea typeface="Calibri" pitchFamily="34" charset="-122"/>
                <a:cs typeface="Calibri" pitchFamily="34" charset="-120"/>
              </a:rPr>
              <a:t>Two-sided testing has a cost nobody mentions.</a:t>
            </a:r>
            <a:endParaRPr lang="en-US" sz="1250" dirty="0"/>
          </a:p>
          <a:p>
            <a:pPr indent="0" marL="0">
              <a:lnSpc>
                <a:spcPct val="106000"/>
              </a:lnSpc>
              <a:buNone/>
            </a:pPr>
            <a:r>
              <a:rPr lang="en-US" sz="1250" dirty="0">
                <a:solidFill>
                  <a:srgbClr val="C9CDCF"/>
                </a:solidFill>
                <a:latin typeface="Calibri" pitchFamily="34" charset="0"/>
                <a:ea typeface="Calibri" pitchFamily="34" charset="-122"/>
                <a:cs typeface="Calibri" pitchFamily="34" charset="-120"/>
              </a:rPr>
              <a:t>It is required to see discounts — one-sided designs have literally zero power against them — and it doubles exposure to drift. The control-stability gate is not optional once the test is two-sided.
</a:t>
            </a:r>
            <a:endParaRPr lang="en-US" sz="1250" dirty="0"/>
          </a:p>
          <a:p>
            <a:pPr indent="0" marL="0">
              <a:lnSpc>
                <a:spcPct val="106000"/>
              </a:lnSpc>
              <a:buNone/>
            </a:pPr>
            <a:r>
              <a:rPr lang="en-US" sz="1250" b="1" dirty="0">
                <a:solidFill>
                  <a:srgbClr val="FFFFFF"/>
                </a:solidFill>
                <a:latin typeface="Calibri" pitchFamily="34" charset="0"/>
                <a:ea typeface="Calibri" pitchFamily="34" charset="-122"/>
                <a:cs typeface="Calibri" pitchFamily="34" charset="-120"/>
              </a:rPr>
              <a:t>A duplicated control is weaker than its reputation.</a:t>
            </a:r>
            <a:endParaRPr lang="en-US" sz="1250" dirty="0"/>
          </a:p>
          <a:p>
            <a:pPr indent="0" marL="0">
              <a:lnSpc>
                <a:spcPct val="106000"/>
              </a:lnSpc>
              <a:buNone/>
            </a:pPr>
            <a:r>
              <a:rPr lang="en-US" sz="1250" dirty="0">
                <a:solidFill>
                  <a:srgbClr val="C9CDCF"/>
                </a:solidFill>
                <a:latin typeface="Calibri" pitchFamily="34" charset="0"/>
                <a:ea typeface="Calibri" pitchFamily="34" charset="-122"/>
                <a:cs typeface="Calibri" pitchFamily="34" charset="-120"/>
              </a:rPr>
              <a:t>k = 2 classifies random A/B bucketing correctly a third of the time: two draws from a fair coin agree half the time, so the cell looks stable. Five replicates reach 98%.
</a:t>
            </a:r>
            <a:endParaRPr lang="en-US" sz="1250" dirty="0"/>
          </a:p>
          <a:p>
            <a:pPr indent="0" marL="0">
              <a:lnSpc>
                <a:spcPct val="106000"/>
              </a:lnSpc>
              <a:buNone/>
            </a:pPr>
            <a:r>
              <a:rPr lang="en-US" sz="1250" b="1" dirty="0">
                <a:solidFill>
                  <a:srgbClr val="FFFFFF"/>
                </a:solidFill>
                <a:latin typeface="Calibri" pitchFamily="34" charset="0"/>
                <a:ea typeface="Calibri" pitchFamily="34" charset="-122"/>
                <a:cs typeface="Calibri" pitchFamily="34" charset="-120"/>
              </a:rPr>
              <a:t>Silent loss is worse than visible abstention.</a:t>
            </a:r>
            <a:endParaRPr lang="en-US" sz="1250" dirty="0"/>
          </a:p>
          <a:p>
            <a:pPr indent="0" marL="0">
              <a:lnSpc>
                <a:spcPct val="106000"/>
              </a:lnSpc>
              <a:buNone/>
            </a:pPr>
            <a:r>
              <a:rPr lang="en-US" sz="1250" dirty="0">
                <a:solidFill>
                  <a:srgbClr val="C9CDCF"/>
                </a:solidFill>
                <a:latin typeface="Calibri" pitchFamily="34" charset="0"/>
                <a:ea typeface="Calibri" pitchFamily="34" charset="-122"/>
                <a:cs typeface="Calibri" pitchFamily="34" charset="-120"/>
              </a:rPr>
              <a:t>A design reporting 50% power with no sign anything is missing is more dangerous than one that abstains on 14% of cohorts and says so.</a:t>
            </a:r>
            <a:endParaRPr lang="en-US" sz="1250" dirty="0"/>
          </a:p>
        </p:txBody>
      </p:sp>
      <p:sp>
        <p:nvSpPr>
          <p:cNvPr id="6" name="Shape 4"/>
          <p:cNvSpPr/>
          <p:nvPr/>
        </p:nvSpPr>
        <p:spPr>
          <a:xfrm>
            <a:off x="6231636" y="1170432"/>
            <a:ext cx="5390388" cy="2121408"/>
          </a:xfrm>
          <a:prstGeom prst="roundRect">
            <a:avLst>
              <a:gd name="adj" fmla="val 2586"/>
            </a:avLst>
          </a:prstGeom>
          <a:solidFill>
            <a:srgbClr val="2C3438"/>
          </a:solidFill>
          <a:ln w="12700">
            <a:solidFill>
              <a:srgbClr val="2C3438"/>
            </a:solidFill>
            <a:prstDash val="solid"/>
          </a:ln>
        </p:spPr>
      </p:sp>
      <p:sp>
        <p:nvSpPr>
          <p:cNvPr id="7" name="Text 5"/>
          <p:cNvSpPr txBox="1"/>
          <p:nvPr/>
        </p:nvSpPr>
        <p:spPr>
          <a:xfrm>
            <a:off x="6460236" y="1316736"/>
            <a:ext cx="4933188" cy="27432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Tools used</a:t>
            </a:r>
            <a:endParaRPr lang="en-US" sz="1300" dirty="0"/>
          </a:p>
        </p:txBody>
      </p:sp>
      <p:sp>
        <p:nvSpPr>
          <p:cNvPr id="8" name="Text 6"/>
          <p:cNvSpPr txBox="1"/>
          <p:nvPr/>
        </p:nvSpPr>
        <p:spPr>
          <a:xfrm>
            <a:off x="6460236" y="1664208"/>
            <a:ext cx="4933188" cy="1517904"/>
          </a:xfrm>
          <a:prstGeom prst="rect">
            <a:avLst/>
          </a:prstGeom>
          <a:noFill/>
          <a:ln/>
        </p:spPr>
        <p:txBody>
          <a:bodyPr wrap="square" lIns="0" tIns="0" rIns="0" bIns="0" rtlCol="0" anchor="t"/>
          <a:lstStyle/>
          <a:p>
            <a:pPr indent="0" marL="0">
              <a:lnSpc>
                <a:spcPct val="104000"/>
              </a:lnSpc>
              <a:buNone/>
            </a:pPr>
            <a:r>
              <a:rPr lang="en-US" sz="1050" b="1" dirty="0">
                <a:solidFill>
                  <a:srgbClr val="FFFFFF"/>
                </a:solidFill>
                <a:latin typeface="Calibri" pitchFamily="34" charset="0"/>
                <a:ea typeface="Calibri" pitchFamily="34" charset="-122"/>
                <a:cs typeface="Calibri" pitchFamily="34" charset="-120"/>
              </a:rPr>
              <a:t>Python 3.12</a:t>
            </a:r>
            <a:pPr indent="0" marL="0">
              <a:lnSpc>
                <a:spcPct val="104000"/>
              </a:lnSpc>
              <a:buNone/>
            </a:pPr>
            <a:r>
              <a:rPr lang="en-US" sz="1050" dirty="0">
                <a:solidFill>
                  <a:srgbClr val="A8ADB0"/>
                </a:solidFill>
                <a:latin typeface="Calibri" pitchFamily="34" charset="0"/>
                <a:ea typeface="Calibri" pitchFamily="34" charset="-122"/>
                <a:cs typeface="Calibri" pitchFamily="34" charset="-120"/>
              </a:rPr>
              <a:t>  ·  everything
</a:t>
            </a:r>
            <a:pPr indent="0" marL="0">
              <a:lnSpc>
                <a:spcPct val="104000"/>
              </a:lnSpc>
              <a:buNone/>
            </a:pPr>
            <a:r>
              <a:rPr lang="en-US" sz="1050" b="1" dirty="0">
                <a:solidFill>
                  <a:srgbClr val="FFFFFF"/>
                </a:solidFill>
                <a:latin typeface="Calibri" pitchFamily="34" charset="0"/>
                <a:ea typeface="Calibri" pitchFamily="34" charset="-122"/>
                <a:cs typeface="Calibri" pitchFamily="34" charset="-120"/>
              </a:rPr>
              <a:t>Playwright</a:t>
            </a:r>
            <a:pPr indent="0" marL="0">
              <a:lnSpc>
                <a:spcPct val="104000"/>
              </a:lnSpc>
              <a:buNone/>
            </a:pPr>
            <a:r>
              <a:rPr lang="en-US" sz="1050" dirty="0">
                <a:solidFill>
                  <a:srgbClr val="A8ADB0"/>
                </a:solidFill>
                <a:latin typeface="Calibri" pitchFamily="34" charset="0"/>
                <a:ea typeface="Calibri" pitchFamily="34" charset="-122"/>
                <a:cs typeface="Calibri" pitchFamily="34" charset="-120"/>
              </a:rPr>
              <a:t>  ·  one Chromium, a fresh context per observation
</a:t>
            </a:r>
            <a:pPr indent="0" marL="0">
              <a:lnSpc>
                <a:spcPct val="104000"/>
              </a:lnSpc>
              <a:buNone/>
            </a:pPr>
            <a:r>
              <a:rPr lang="en-US" sz="1050" b="1" dirty="0">
                <a:solidFill>
                  <a:srgbClr val="FFFFFF"/>
                </a:solidFill>
                <a:latin typeface="Calibri" pitchFamily="34" charset="0"/>
                <a:ea typeface="Calibri" pitchFamily="34" charset="-122"/>
                <a:cs typeface="Calibri" pitchFamily="34" charset="-120"/>
              </a:rPr>
              <a:t>SQLite</a:t>
            </a:r>
            <a:pPr indent="0" marL="0">
              <a:lnSpc>
                <a:spcPct val="104000"/>
              </a:lnSpc>
              <a:buNone/>
            </a:pPr>
            <a:r>
              <a:rPr lang="en-US" sz="1050" dirty="0">
                <a:solidFill>
                  <a:srgbClr val="A8ADB0"/>
                </a:solidFill>
                <a:latin typeface="Calibri" pitchFamily="34" charset="0"/>
                <a:ea typeface="Calibri" pitchFamily="34" charset="-122"/>
                <a:cs typeface="Calibri" pitchFamily="34" charset="-120"/>
              </a:rPr>
              <a:t>  ·  the panel; CHECK constraints enforce two audit invariants
</a:t>
            </a:r>
            <a:pPr indent="0" marL="0">
              <a:lnSpc>
                <a:spcPct val="104000"/>
              </a:lnSpc>
              <a:buNone/>
            </a:pPr>
            <a:r>
              <a:rPr lang="en-US" sz="1050" b="1" dirty="0">
                <a:solidFill>
                  <a:srgbClr val="FFFFFF"/>
                </a:solidFill>
                <a:latin typeface="Calibri" pitchFamily="34" charset="0"/>
                <a:ea typeface="Calibri" pitchFamily="34" charset="-122"/>
                <a:cs typeface="Calibri" pitchFamily="34" charset="-120"/>
              </a:rPr>
              <a:t>NumPy · pandas · SciPy</a:t>
            </a:r>
            <a:pPr indent="0" marL="0">
              <a:lnSpc>
                <a:spcPct val="104000"/>
              </a:lnSpc>
              <a:buNone/>
            </a:pPr>
            <a:r>
              <a:rPr lang="en-US" sz="1050" dirty="0">
                <a:solidFill>
                  <a:srgbClr val="A8ADB0"/>
                </a:solidFill>
                <a:latin typeface="Calibri" pitchFamily="34" charset="0"/>
                <a:ea typeface="Calibri" pitchFamily="34" charset="-122"/>
                <a:cs typeface="Calibri" pitchFamily="34" charset="-120"/>
              </a:rPr>
              <a:t>  ·  vectorized lattice, aggregation, ANOVA
</a:t>
            </a:r>
            <a:pPr indent="0" marL="0">
              <a:lnSpc>
                <a:spcPct val="104000"/>
              </a:lnSpc>
              <a:buNone/>
            </a:pPr>
            <a:r>
              <a:rPr lang="en-US" sz="1050" b="1" dirty="0">
                <a:solidFill>
                  <a:srgbClr val="FFFFFF"/>
                </a:solidFill>
                <a:latin typeface="Calibri" pitchFamily="34" charset="0"/>
                <a:ea typeface="Calibri" pitchFamily="34" charset="-122"/>
                <a:cs typeface="Calibri" pitchFamily="34" charset="-120"/>
              </a:rPr>
              <a:t>matplotlib · pytest</a:t>
            </a:r>
            <a:pPr indent="0" marL="0">
              <a:lnSpc>
                <a:spcPct val="104000"/>
              </a:lnSpc>
              <a:buNone/>
            </a:pPr>
            <a:r>
              <a:rPr lang="en-US" sz="1050" dirty="0">
                <a:solidFill>
                  <a:srgbClr val="A8ADB0"/>
                </a:solidFill>
                <a:latin typeface="Calibri" pitchFamily="34" charset="0"/>
                <a:ea typeface="Calibri" pitchFamily="34" charset="-122"/>
                <a:cs typeface="Calibri" pitchFamily="34" charset="-120"/>
              </a:rPr>
              <a:t>  ·  figures; 156 tests
</a:t>
            </a:r>
            <a:pPr indent="0" marL="0">
              <a:lnSpc>
                <a:spcPct val="104000"/>
              </a:lnSpc>
              <a:buNone/>
            </a:pPr>
            <a:r>
              <a:rPr lang="en-US" sz="1050" b="1" dirty="0">
                <a:solidFill>
                  <a:srgbClr val="FFFFFF"/>
                </a:solidFill>
                <a:latin typeface="Calibri" pitchFamily="34" charset="0"/>
                <a:ea typeface="Calibri" pitchFamily="34" charset="-122"/>
                <a:cs typeface="Calibri" pitchFamily="34" charset="-120"/>
              </a:rPr>
              <a:t>Git · GitHub Actions</a:t>
            </a:r>
            <a:pPr indent="0" marL="0">
              <a:lnSpc>
                <a:spcPct val="104000"/>
              </a:lnSpc>
              <a:buNone/>
            </a:pPr>
            <a:r>
              <a:rPr lang="en-US" sz="1050" dirty="0">
                <a:solidFill>
                  <a:srgbClr val="A8ADB0"/>
                </a:solidFill>
                <a:latin typeface="Calibri" pitchFamily="34" charset="0"/>
                <a:ea typeface="Calibri" pitchFamily="34" charset="-122"/>
                <a:cs typeface="Calibri" pitchFamily="34" charset="-120"/>
              </a:rPr>
              <a:t>  ·  CI on 3.11 / 3.12 plus a real-browser job
</a:t>
            </a:r>
            <a:pPr indent="0" marL="0">
              <a:lnSpc>
                <a:spcPct val="104000"/>
              </a:lnSpc>
              <a:buNone/>
            </a:pPr>
            <a:r>
              <a:rPr lang="en-US" sz="1050" b="1" dirty="0">
                <a:solidFill>
                  <a:srgbClr val="FFFFFF"/>
                </a:solidFill>
                <a:latin typeface="Calibri" pitchFamily="34" charset="0"/>
                <a:ea typeface="Calibri" pitchFamily="34" charset="-122"/>
                <a:cs typeface="Calibri" pitchFamily="34" charset="-120"/>
              </a:rPr>
              <a:t>reportlab · python-pptx</a:t>
            </a:r>
            <a:pPr indent="0" marL="0">
              <a:lnSpc>
                <a:spcPct val="104000"/>
              </a:lnSpc>
              <a:buNone/>
            </a:pPr>
            <a:r>
              <a:rPr lang="en-US" sz="1050" dirty="0">
                <a:solidFill>
                  <a:srgbClr val="A8ADB0"/>
                </a:solidFill>
                <a:latin typeface="Calibri" pitchFamily="34" charset="0"/>
                <a:ea typeface="Calibri" pitchFamily="34" charset="-122"/>
                <a:cs typeface="Calibri" pitchFamily="34" charset="-120"/>
              </a:rPr>
              <a:t>  ·  this report and this deck</a:t>
            </a:r>
            <a:endParaRPr lang="en-US" sz="1050" dirty="0"/>
          </a:p>
        </p:txBody>
      </p:sp>
      <p:sp>
        <p:nvSpPr>
          <p:cNvPr id="9" name="Text 7"/>
          <p:cNvSpPr txBox="1"/>
          <p:nvPr/>
        </p:nvSpPr>
        <p:spPr>
          <a:xfrm>
            <a:off x="6231636" y="3456432"/>
            <a:ext cx="5390388" cy="256032"/>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References</a:t>
            </a:r>
            <a:endParaRPr lang="en-US" sz="1300" dirty="0"/>
          </a:p>
        </p:txBody>
      </p:sp>
      <p:sp>
        <p:nvSpPr>
          <p:cNvPr id="10" name="Text 8"/>
          <p:cNvSpPr txBox="1"/>
          <p:nvPr/>
        </p:nvSpPr>
        <p:spPr>
          <a:xfrm>
            <a:off x="6231636" y="3749040"/>
            <a:ext cx="5390388" cy="2011680"/>
          </a:xfrm>
          <a:prstGeom prst="rect">
            <a:avLst/>
          </a:prstGeom>
          <a:noFill/>
          <a:ln/>
        </p:spPr>
        <p:txBody>
          <a:bodyPr wrap="square" lIns="0" tIns="0" rIns="0" bIns="0" rtlCol="0" anchor="t"/>
          <a:lstStyle/>
          <a:p>
            <a:pPr indent="0" marL="0">
              <a:lnSpc>
                <a:spcPct val="106000"/>
              </a:lnSpc>
              <a:buNone/>
            </a:pPr>
            <a:r>
              <a:rPr lang="en-US" sz="920" dirty="0">
                <a:solidFill>
                  <a:srgbClr val="A8ADB0"/>
                </a:solidFill>
                <a:latin typeface="Calibri" pitchFamily="34" charset="0"/>
                <a:ea typeface="Calibri" pitchFamily="34" charset="-122"/>
                <a:cs typeface="Calibri" pitchFamily="34" charset="-120"/>
              </a:rPr>
              <a:t>[1] Mikians, Gyarmati, Erramilli &amp; Laoutaris. Detecting price and search discrimination on the Internet. HotNets-XI, 2012.
</a:t>
            </a:r>
            <a:pPr indent="0" marL="0">
              <a:lnSpc>
                <a:spcPct val="106000"/>
              </a:lnSpc>
              <a:buNone/>
            </a:pPr>
            <a:r>
              <a:rPr lang="en-US" sz="920" dirty="0">
                <a:solidFill>
                  <a:srgbClr val="A8ADB0"/>
                </a:solidFill>
                <a:latin typeface="Calibri" pitchFamily="34" charset="0"/>
                <a:ea typeface="Calibri" pitchFamily="34" charset="-122"/>
                <a:cs typeface="Calibri" pitchFamily="34" charset="-120"/>
              </a:rPr>
              <a:t>[2] Hannak, Sapiezynski, Molavi Kakhki, Krishnamurthy, Lazer, Mislove &amp; Wilson. Measuring personalization of web search. WWW 2013.
</a:t>
            </a:r>
            <a:pPr indent="0" marL="0">
              <a:lnSpc>
                <a:spcPct val="106000"/>
              </a:lnSpc>
              <a:buNone/>
            </a:pPr>
            <a:r>
              <a:rPr lang="en-US" sz="920" dirty="0">
                <a:solidFill>
                  <a:srgbClr val="A8ADB0"/>
                </a:solidFill>
                <a:latin typeface="Calibri" pitchFamily="34" charset="0"/>
                <a:ea typeface="Calibri" pitchFamily="34" charset="-122"/>
                <a:cs typeface="Calibri" pitchFamily="34" charset="-120"/>
              </a:rPr>
              <a:t>[3] Hannak, Soeller, Lazer, Mislove &amp; Wilson. Measuring price discrimination and steering on e-commerce web sites. IMC 2014.
</a:t>
            </a:r>
            <a:pPr indent="0" marL="0">
              <a:lnSpc>
                <a:spcPct val="106000"/>
              </a:lnSpc>
              <a:buNone/>
            </a:pPr>
            <a:r>
              <a:rPr lang="en-US" sz="920" dirty="0">
                <a:solidFill>
                  <a:srgbClr val="A8ADB0"/>
                </a:solidFill>
                <a:latin typeface="Calibri" pitchFamily="34" charset="0"/>
                <a:ea typeface="Calibri" pitchFamily="34" charset="-122"/>
                <a:cs typeface="Calibri" pitchFamily="34" charset="-120"/>
              </a:rPr>
              <a:t>[4] Chen, Mislove &amp; Wilson. An empirical analysis of algorithmic pricing on Amazon Marketplace. WWW 2016.
</a:t>
            </a:r>
            <a:pPr indent="0" marL="0">
              <a:lnSpc>
                <a:spcPct val="106000"/>
              </a:lnSpc>
              <a:buNone/>
            </a:pPr>
            <a:r>
              <a:rPr lang="en-US" sz="920" dirty="0">
                <a:solidFill>
                  <a:srgbClr val="A8ADB0"/>
                </a:solidFill>
                <a:latin typeface="Calibri" pitchFamily="34" charset="0"/>
                <a:ea typeface="Calibri" pitchFamily="34" charset="-122"/>
                <a:cs typeface="Calibri" pitchFamily="34" charset="-120"/>
              </a:rPr>
              <a:t>[5] Vissers, Nikiforakis, Bielova &amp; Joosen. Crying wolf? On the price discrimination of online airline tickets. HotPETs 2014.
</a:t>
            </a:r>
            <a:pPr indent="0" marL="0">
              <a:lnSpc>
                <a:spcPct val="106000"/>
              </a:lnSpc>
              <a:buNone/>
            </a:pPr>
            <a:r>
              <a:rPr lang="en-US" sz="920" dirty="0">
                <a:solidFill>
                  <a:srgbClr val="A8ADB0"/>
                </a:solidFill>
                <a:latin typeface="Calibri" pitchFamily="34" charset="0"/>
                <a:ea typeface="Calibri" pitchFamily="34" charset="-122"/>
                <a:cs typeface="Calibri" pitchFamily="34" charset="-120"/>
              </a:rPr>
              <a:t>[6] Council of Economic Advisers. Big Data and Differential Pricing. Executive Office of the President, 2015.
</a:t>
            </a:r>
            <a:pPr indent="0" marL="0">
              <a:lnSpc>
                <a:spcPct val="106000"/>
              </a:lnSpc>
              <a:buNone/>
            </a:pPr>
            <a:r>
              <a:rPr lang="en-US" sz="920" dirty="0">
                <a:solidFill>
                  <a:srgbClr val="A8ADB0"/>
                </a:solidFill>
                <a:latin typeface="Calibri" pitchFamily="34" charset="0"/>
                <a:ea typeface="Calibri" pitchFamily="34" charset="-122"/>
                <a:cs typeface="Calibri" pitchFamily="34" charset="-120"/>
              </a:rPr>
              <a:t>[7] Karan, Balepur &amp; Sundaram. Your browsing history may cost you. FAccT 2023.</a:t>
            </a:r>
            <a:endParaRPr lang="en-US" sz="920" dirty="0"/>
          </a:p>
        </p:txBody>
      </p:sp>
      <p:sp>
        <p:nvSpPr>
          <p:cNvPr id="11" name="Text 9"/>
          <p:cNvSpPr txBox="1"/>
          <p:nvPr/>
        </p:nvSpPr>
        <p:spPr>
          <a:xfrm>
            <a:off x="566928" y="4608576"/>
            <a:ext cx="5390388" cy="658368"/>
          </a:xfrm>
          <a:prstGeom prst="rect">
            <a:avLst/>
          </a:prstGeom>
          <a:noFill/>
          <a:ln/>
        </p:spPr>
        <p:txBody>
          <a:bodyPr wrap="square" lIns="0" tIns="0" rIns="0" bIns="0" rtlCol="0" anchor="t"/>
          <a:lstStyle/>
          <a:p>
            <a:pPr indent="0" marL="0">
              <a:buNone/>
            </a:pPr>
            <a:r>
              <a:rPr lang="en-US" sz="1350" i="1" dirty="0">
                <a:solidFill>
                  <a:srgbClr val="2A78D6"/>
                </a:solidFill>
                <a:latin typeface="Cambria" pitchFamily="34" charset="0"/>
                <a:ea typeface="Cambria" pitchFamily="34" charset="-122"/>
                <a:cs typeface="Cambria" pitchFamily="34" charset="-120"/>
              </a:rPr>
              <a:t>No live retailer was measured. This work makes no claim about whether price discrimination occurs — only about what a measurement of it can support.</a:t>
            </a:r>
            <a:endParaRPr lang="en-US" sz="1350" dirty="0"/>
          </a:p>
        </p:txBody>
      </p:sp>
      <p:sp>
        <p:nvSpPr>
          <p:cNvPr id="12" name="Text 10"/>
          <p:cNvSpPr txBox="1"/>
          <p:nvPr/>
        </p:nvSpPr>
        <p:spPr>
          <a:xfrm>
            <a:off x="566928" y="5413248"/>
            <a:ext cx="5390388"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github.com/edefang/price-discrimination-research</a:t>
            </a:r>
            <a:endParaRPr lang="en-US" sz="1200" dirty="0"/>
          </a:p>
        </p:txBody>
      </p:sp>
      <p:sp>
        <p:nvSpPr>
          <p:cNvPr id="13" name="Text 11"/>
          <p:cNvSpPr txBox="1"/>
          <p:nvPr/>
        </p:nvSpPr>
        <p:spPr>
          <a:xfrm>
            <a:off x="566928" y="6327648"/>
            <a:ext cx="11055096" cy="274320"/>
          </a:xfrm>
          <a:prstGeom prst="rect">
            <a:avLst/>
          </a:prstGeom>
          <a:noFill/>
          <a:ln/>
        </p:spPr>
        <p:txBody>
          <a:bodyPr wrap="square" lIns="0" tIns="0" rIns="0" bIns="0" rtlCol="0" anchor="ctr"/>
          <a:lstStyle/>
          <a:p>
            <a:pPr indent="0" marL="0">
              <a:buNone/>
            </a:pPr>
            <a:r>
              <a:rPr lang="en-US" sz="950" dirty="0">
                <a:solidFill>
                  <a:srgbClr val="8A8985"/>
                </a:solidFill>
                <a:latin typeface="Calibri" pitchFamily="34" charset="0"/>
                <a:ea typeface="Calibri" pitchFamily="34" charset="-122"/>
                <a:cs typeface="Calibri" pitchFamily="34" charset="-120"/>
              </a:rPr>
              <a:t>Paper, instrument, simulator, results and replication package are all in the repository.</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Detector Design Determines Findings</dc:title>
  <dc:subject>A simulation study of price discrimination measurement</dc:subject>
  <dc:creator>Eyong Defang</dc:creator>
  <cp:lastModifiedBy>Eyong Defang</cp:lastModifiedBy>
  <cp:revision>1</cp:revision>
  <dcterms:created xsi:type="dcterms:W3CDTF">2026-09-20T03:32:29Z</dcterms:created>
  <dcterms:modified xsi:type="dcterms:W3CDTF">2026-09-20T03:32:29Z</dcterms:modified>
</cp:coreProperties>
</file>